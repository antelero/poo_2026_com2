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419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419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FB60BBB-B409-42BE-BB56-B32782F0BC68}" type="slidenum"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266557-8183-408D-BEF1-D1B666D5FF5A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A106B4-43EB-4911-B11E-DA18C71FD2FF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Pedir a los estudiantes que nombren entidades antes de continuar (Empleado, Departamento, Gerente, Contrato, ReciboSueldo). Anotar en el pizarrón para reutilizar durante toda la clase.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ANIMACIÓN SUGERIDA: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Aparición progresiva de cada viñeta al hacer clic; el diagrama aparece al final.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IMAGEN / DIAGRAMA SUGERIDO: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Ícono de oficina/organigrama junto al título.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7FE856-1258-4DBB-B0C3-F14E33982132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Enfatizar la relación tipo/instancia como con 'int x;'. Evitar la analogía del plano arquitectónico; preferir la analogía tipo–valor que ya conocen de tipos primitivos.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ANIMACIÓN SUGERIDA: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Resaltar 'class Empleado' en color y luego resaltar cada instancia por separado.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IMAGEN / DIAGRAMA SUGERIDO: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Diagrama de memoria mostrando dos cajas 'empleado1' y 'empleado2' con sus propios valores.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6ABB70-9320-471A-8C2F-D46FE7EE1CE9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Usar la comparación con gemelos idénticos: mismo 'estado' físico pero identidades distintas. Sembrar que el legajo será el identificador único (se retoma en Módulo 6 y 15).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ANIMACIÓN SUGERIDA: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Resaltar por separado estado, comportamiento e identidad con tres colores.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IMAGEN / DIAGRAMA SUGERIDO: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Tres íconos: una etiqueta (estado), un engranaje (comportamiento) y una huella digital (identidad).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8C9CD3-B92D-4222-99E7-6EE6CFC0557B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Dar 3 minutos para resolver en papel y pedir a un estudiante que pase al pizarrón.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A1C384-74BE-4820-A0D2-CB7C72B5B63D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B65059-351C-4D08-9FC2-0BDFB0D49C5A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Conectar con la idea de invariantes: si 'sueldo' fuera public, cualquier código externo podría dejarlo en un estado inconsistente (por ejemplo, negativo) sin pasar por un setter validado.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ANIMACIÓN SUGERIDA: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Resaltar cada fila de la tabla al mencionarla.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A388B4-95DA-40CB-85EF-8102773916C4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Remarcar el 'const' en el getter: no modifica el objeto. Buen momento para mencionar que se retomará al hablar de buenas prácticas.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A8F03C-66CD-4B0E-8F3F-0F5ABF6FF0EF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Explicar que la lista de inicialización llama directamente al constructor del atributo, mientras que la asignación en el cuerpo primero construye por defecto y luego asigna.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6B6F6A-3A3B-4C4C-B3B1-C6F648DFA1BA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Aclarar que 'this' es un puntero (Empleado*), por eso se usa '-&gt;' y se desreferencia con '*this'.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53E026-A886-4305-9692-264B1BA364A5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Cerrar la idea de encapsulamiento como protección de invariantes: los únicos caminos válidos para cambiar 'sueldo' son métodos con nombre semántico y validación.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IMAGEN / DIAGRAMA SUGERIDO: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Diagrama UML de la clase Empleado final con sus tres secciones (atributos / constructor / métodos).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4A68C9-B14F-4A40-A5B9-83B3460DB36C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Pedir que un voluntario dicte su solución en voz alta mientras el docente la tipea en el proyector.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4B30A7-109A-4454-8E74-5A010BF2BE5E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451ACF-65AB-498E-A121-7484669D7A7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Marcar que la línea simple sin rombos en UML representa asociación.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380CEA-C68C-4EEF-BBFF-B50AD97E764D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Recalcar el rombo HUECO como marca distintiva de agregación frente a composición (rombo relleno).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2B27F7-D0CE-4949-9918-A8E82C36F69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Conectar con el destructor del Módulo 2: al destruirse el todo, se destruyen automáticamente sus miembros por valor.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FAC417-B29A-4BD6-AC68-2A1B63AE9628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Sembrar la pregunta que se resolverá en el Módulo 4 con el ejemplo Persona/Empleado/Gerente.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4FA384-56A8-48E7-B463-B2F4BFD9ED33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 esperada: puede discutirse como asociación o agregación débil, ya que el Contrato sobrevive administrativamente a la relación laboral activa; es un buen disparador de debate.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ANIMACIÓN SUGERIDA: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Construir la tabla fila por fila, de más débil a más fuerte, para reforzar el gradiente de acoplamiento.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CD5E8C-3119-4932-BED5-714C5714A0B5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Cierre de Parte 1. La Parte 2 retoma Herencia en profundidad (Módulo 4) usando el mismo caso de estudio.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26BD61-B887-46A3-9EEC-BCEB2CD31DC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419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419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419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419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419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40080" y="640080"/>
            <a:ext cx="10908000" cy="5577120"/>
          </a:xfrm>
          <a:prstGeom prst="roundRect">
            <a:avLst>
              <a:gd name="adj" fmla="val 984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05840" y="1280160"/>
            <a:ext cx="10149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600" spc="197" strike="noStrike">
                <a:solidFill>
                  <a:srgbClr val="e8a33d"/>
                </a:solidFill>
                <a:latin typeface="Calibri"/>
                <a:ea typeface="Calibri"/>
              </a:rPr>
              <a:t>REPASO INTEGRADOR · PARTE 1 DE 3</a:t>
            </a:r>
            <a:endParaRPr b="0" lang="es-419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05840" y="1783080"/>
            <a:ext cx="10149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Programación Orientada a Objetos en C++</a:t>
            </a:r>
            <a:endParaRPr b="0" lang="es-419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Repaso Parcial 2</a:t>
            </a:r>
            <a:endParaRPr b="0" lang="es-419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005840" y="3611880"/>
            <a:ext cx="10149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800" spc="-1" strike="noStrike">
                <a:solidFill>
                  <a:srgbClr val="dceaf2"/>
                </a:solidFill>
                <a:latin typeface="Calibri"/>
                <a:ea typeface="Calibri"/>
              </a:rPr>
              <a:t>Caso de estudio: Sistema de Gestión de Empleados — Módulos 1 a 3</a:t>
            </a: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005840" y="4617720"/>
            <a:ext cx="5851440" cy="1416600"/>
          </a:xfrm>
          <a:prstGeom prst="roundRect">
            <a:avLst>
              <a:gd name="adj" fmla="val 3871"/>
            </a:avLst>
          </a:prstGeom>
          <a:solidFill>
            <a:srgbClr val="0f2438"/>
          </a:solidFill>
          <a:ln w="6350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188720" y="4709160"/>
            <a:ext cx="54856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ObjetoDeEstudio {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private: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Conocimiento conocimiento;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prepararParcial();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005840" y="6172200"/>
            <a:ext cx="10149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8faac0"/>
                </a:solidFill>
                <a:latin typeface="Calibri"/>
                <a:ea typeface="Calibri"/>
              </a:rPr>
              <a:t>Introducción a la POO · Encapsulamiento · Relaciones entre clases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4205520" cy="685728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214884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296" strike="noStrike">
                <a:solidFill>
                  <a:srgbClr val="e8a33d"/>
                </a:solidFill>
                <a:latin typeface="Calibri"/>
                <a:ea typeface="Calibri"/>
              </a:rPr>
              <a:t>MÓDULO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57200" y="2423160"/>
            <a:ext cx="32911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1</a:t>
            </a:r>
            <a:endParaRPr b="0" lang="es-419" sz="1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48640" y="484632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≈ </a:t>
            </a: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20 minutos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572000" y="822960"/>
            <a:ext cx="70401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2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Introducción a la POO</a:t>
            </a:r>
            <a:endParaRPr b="0" lang="es-419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4572000" y="2148840"/>
            <a:ext cx="676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Objetivos de esta sección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4709160" y="2606040"/>
            <a:ext cx="667440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Explicar qué es la Programación Orientada a Objetos y por qué la usamos.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Diferenciar correctamente clase y objeto.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Identificar estado, comportamiento e identidad en un objeto.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1 · Introducción a la POO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¿Qué es la Programación Orientada a Objetos?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1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Paradigma</a:t>
            </a: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 que organiza el software en unidades llamadas objetos, cada una con datos y comportamiento propio.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Modela el problema en términos de "entidades" del dominio (Empleado, Departamento, Contrato) en lugar de una secuencia de instrucciones.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apoya en cuatro pilares: 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encapsulamiento, 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herencia, 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polimorfismo 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y abstracción.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Beneficios: mayor organización, reutilización de código, mantenibilidad y modelado más cercano a la realidad.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f33"/>
          </a:solidFill>
          <a:ln w="9525">
            <a:solidFill>
              <a:srgbClr val="1c9e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9e8e"/>
                </a:solidFill>
                <a:latin typeface="Calibri"/>
                <a:ea typeface="Calibri"/>
              </a:rPr>
              <a:t>Paradigma procedural vs. orientado a objetos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PROCEDURAL              POO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----------              ---------------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datos sueltos           +-------------+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funciones sueltas       | Empleado    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         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| - nombre    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f(datos)  ---&gt;          | - sueldo    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g(datos)  ---&gt;          | +liquidar() 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         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El objeto agrupa DATOS y COMPORTAMIENTO juntos.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En el Sistema de Gestión de Empleados, ¿qué entidades del mundo real serían buenas candidatas a convertirse en clases?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1 · Introducción a la POO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Clase vs. Objeto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Una clase es un tipo de dato definido por el usuario: describe qué atributos y qué operaciones tendrán sus instancias.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Un objeto es una instancia concreta de una clase: ocupa memoria real y tiene sus propios valores de atributos.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Igual que 'int' es un tipo y '5' es un valor de ese tipo, 'Empleado' es un tipo y 'empleado1' es un objeto de ese tipo.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pueden crear muchos objetos distintos a partir de una misma clase.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empleado.h / main.cpp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Empleado {           // CLASE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sueldo;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int main()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 empleado1;     // OBJETO 1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 empleado2;     // OBJETO 2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empleado1.nombre = "Ana Gomez";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empleado2.nombre = "Juan Perez";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2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Si declaro 'Empleado a, b;', ¿cuántas clases y cuántos objetos existen en memoria?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1 · Introducción a la POO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Estado, comportamiento e identidad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Estado: los valores actuales de los atributos del objeto en un momento dado (nombre, sueldo).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Comportamiento: las operaciones que el objeto puede realizar, definidas por sus métodos (registrarAsistencia(), pedirLicencia()).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Identidad: lo que distingue a un objeto de otro aunque tengan el mismo estado (su dirección de memoria / identidad propia, o su legajo único).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Dos objetos Empleado pueden tener el mismo nombre y sueldo y aun así ser objetos distintos.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Ejemplo: Empleado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Empleado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private: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nombre;      // estado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int diasLicencia;   // estado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pedirLicencia(){ // comportamiento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diasLicencia--;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 e1, e2;   // identidades distintas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e1 y e2 pueden tener igual estado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pero NO son el mismo objeto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¿Pueden dos objetos Empleado distintos tener exactamente el mismo estado? ¿Siguen siendo objetos diferentes?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CIERRE · MÓDULO 1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Resumen — Introducción a la POO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 /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457200" y="1463040"/>
            <a:ext cx="5394240" cy="2742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640080" y="160020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✔ </a:t>
            </a: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Ideas clave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731520" y="1965960"/>
            <a:ext cx="493704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La POO organiza el software en objetos que combinan datos y comportamiento.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Clase = tipo definido por el usuario. Objeto = instancia concreta de ese tipo.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Todo objeto tiene estado, comportamiento e identidad propios.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6035040" y="1463040"/>
            <a:ext cx="5668560" cy="2742480"/>
          </a:xfrm>
          <a:prstGeom prst="roundRect">
            <a:avLst>
              <a:gd name="adj" fmla="val 2000"/>
            </a:avLst>
          </a:prstGeom>
          <a:solidFill>
            <a:srgbClr val="fff7f0"/>
          </a:solidFill>
          <a:ln w="12700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6217920" y="1600200"/>
            <a:ext cx="5302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Errores frecuentes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6309360" y="1965960"/>
            <a:ext cx="521136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Confundir clase con objeto y usarlos como sinónimos.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"Guerrero" es la clase: define qué atributos (vida, fuerza) y qué acciones (atacar(), defenderse()) tendrá cualquier personaje de ese tipo. Cada personaje en la partida es un objeto con sus propios valores actuales de vida/fuerza.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Pensar que dos objetos con igual estado son 'el mismo objeto'.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457200" y="4434840"/>
            <a:ext cx="11246400" cy="1873800"/>
          </a:xfrm>
          <a:prstGeom prst="roundRect">
            <a:avLst>
              <a:gd name="adj" fmla="val 2927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685800" y="457200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✏ </a:t>
            </a: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Ejercicio rápido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685800" y="4937760"/>
            <a:ext cx="107892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1450" spc="-1" strike="noStrike">
                <a:solidFill>
                  <a:srgbClr val="ffffff"/>
                </a:solidFill>
                <a:latin typeface="Calibri"/>
                <a:ea typeface="Calibri"/>
              </a:rPr>
              <a:t>Escribí la declaración de una clase Departamento (sin implementar métodos) con al menos dos atributos coherentes con el Sistema de Gestión de Empleados, y luego declará dos objetos de esa clase.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4205520" cy="685728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48640" y="214884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296" strike="noStrike">
                <a:solidFill>
                  <a:srgbClr val="e8a33d"/>
                </a:solidFill>
                <a:latin typeface="Calibri"/>
                <a:ea typeface="Calibri"/>
              </a:rPr>
              <a:t>MÓDULO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457200" y="2423160"/>
            <a:ext cx="32911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2</a:t>
            </a:r>
            <a:endParaRPr b="0" lang="es-419" sz="1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548640" y="484632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≈ </a:t>
            </a: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30 minutos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4572000" y="822960"/>
            <a:ext cx="70401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2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Encapsulamiento</a:t>
            </a:r>
            <a:endParaRPr b="0" lang="es-419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4572000" y="2148840"/>
            <a:ext cx="676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Objetivos de esta sección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709160" y="2606040"/>
            <a:ext cx="667440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Aplicar los modificadores de acceso private, protected y public.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Implementar getters, setters, constructores y destructor.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Comprender el uso del puntero this.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2 · Encapsulamiento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Atributos, métodos y modificadores de acceso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Encapsulamiento: ocultar el estado interno del objeto y exponer sólo lo necesario mediante métodos.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private: accesible únicamente dentro de la propia clase.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sngStrike">
                <a:solidFill>
                  <a:srgbClr val="1b2733"/>
                </a:solidFill>
                <a:latin typeface="Calibri"/>
                <a:ea typeface="Calibri"/>
              </a:rPr>
              <a:t>protected: accesible en la propia clase y en las clases derivadas.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public: accesible desde cualquier parte del programa.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6080760" y="1261800"/>
            <a:ext cx="5622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6fa1"/>
                </a:solidFill>
                <a:latin typeface="Calibri"/>
                <a:ea typeface="Calibri"/>
              </a:rPr>
              <a:t>Modificadores de acceso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9" name="Table 0"/>
          <p:cNvGraphicFramePr/>
          <p:nvPr/>
        </p:nvGraphicFramePr>
        <p:xfrm>
          <a:off x="6080760" y="1554480"/>
          <a:ext cx="5622840" cy="3016800"/>
        </p:xfrm>
        <a:graphic>
          <a:graphicData uri="http://schemas.openxmlformats.org/drawingml/2006/table">
            <a:tbl>
              <a:tblPr/>
              <a:tblGrid>
                <a:gridCol w="1405800"/>
                <a:gridCol w="1405800"/>
                <a:gridCol w="1405800"/>
                <a:gridCol w="1405800"/>
              </a:tblGrid>
              <a:tr h="754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Modificador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Misma clase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Clase derivada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Exterior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</a:tr>
              <a:tr h="754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private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Sí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4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sng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protected</a:t>
                      </a:r>
                      <a:endParaRPr b="0" lang="es-419" sz="1050" spc="-1" strike="sng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sng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Sí</a:t>
                      </a:r>
                      <a:endParaRPr b="0" lang="es-419" sz="1050" spc="-1" strike="sng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sng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Sí</a:t>
                      </a:r>
                      <a:endParaRPr b="0" lang="es-419" sz="1050" spc="-1" strike="sng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sng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s-419" sz="1050" spc="-1" strike="sng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  <a:tr h="754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public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Sí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Sí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Sí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Shape 8"/>
          <p:cNvSpPr/>
          <p:nvPr/>
        </p:nvSpPr>
        <p:spPr>
          <a:xfrm>
            <a:off x="457200" y="4434840"/>
            <a:ext cx="11246400" cy="4564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594360" y="44348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Declarar todos los atributos como public "para que sea más fácil", rompiendo el encapsulamiento.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¿Por qué el atributo 'sueldo' de Empleado debería ser private y no public?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2 · Encapsulamiento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Getters y Setters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Getters: métodos públicos que permiten leer un atributo privado sin exponerlo directamente.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Setters: métodos públicos que permiten modificar un atributo privado, validando el nuevo valor.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Un setter puede rechazar valores inválidos; un atributo public nunca podría hacerlo.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No todo atributo necesita setter: algunos deben ser de solo lectura desde afuera.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empleado.h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Empleado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private: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sueldo;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getNombre() const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setSueldo(double s)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if (s &gt; 0)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sueldo = s;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validación agregarías a un setLegajo(int) para la clase Empleado?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2 · Encapsulamiento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Constructores y destructor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7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Constructor: método especial que inicializa el objeto en el momento de su creación; tiene el mismo nombre que la clase.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Constructor por inicialización: recibe parámetros para fijar el estado inicial.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Con lista de inicialización — Empleado(string n) : nombre(n) {}. nombre se construye directamente a partir de n, usando el constructor de copia de string. Es una sola operación.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Con asignación en el cuerpo — Empleado(string n) { nombre = n; }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Destructor (~NombreClase()): se ejecuta automáticamente cuando el objeto deja de existir; libera recursos.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Si no se define ningún constructor, el compilador genera uno por defecto (sin parámetros).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6080760" y="1554480"/>
            <a:ext cx="5622840" cy="34855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empleado.h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Empleado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private: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sueldo;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Empleado(string n, double s)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: nombre(n), sueldo(s) {}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~Empleado()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libera recursos si los hubiera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 e1("Ana Gomez", 350000);  // se construye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...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al salir de alcance -&gt; ~Empleado()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0"/>
          <p:cNvSpPr/>
          <p:nvPr/>
        </p:nvSpPr>
        <p:spPr>
          <a:xfrm>
            <a:off x="457200" y="5550840"/>
            <a:ext cx="11246400" cy="4564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594360" y="55508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Olvidar la lista de inicialización y asignar los valores dentro del cuerpo del constructor, lo cual es menos eficiente y falla con atributos const o referencias.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diferencia hay entre 'Empleado(string n) : nombre(n) {}' y 'Empleado(string n) { nombre = n; }'?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2 · Encapsulamiento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El puntero this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this es un puntero implícito que apunta al propio objeto sobre el cual se invocó el método.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usa para distinguir un atributo de un parámetro con el mismo nombre.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También permite retornar *this para encadenar llamadas a métodos.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Todo método no estático recibe this de forma automática e implícita.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empleado.h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Empleado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private: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setNombre(string nombre)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this-&gt;nombre = 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  ^ atributo  ^ parámetro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Empleado&amp; registrarAusencia()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... lógica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*this;   // encadenamiento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imprimiría 'cout &lt;&lt; this;' dentro de un método? ¿Qué tipo de dato es this?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2 · Encapsulamiento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Ejemplo integrador: clase Empleado completa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Reúne en un solo ejemplo: atributos privados, constructor por inicialización, getters/setters y destructor.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Observá cómo el estado interno (sueldo) sólo puede cambiar a través de un setter validado o de aumentarSueldo().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Este es el diseño que usaremos como base para las relaciones entre clases del Módulo 3.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6080760" y="1554480"/>
            <a:ext cx="5622840" cy="40255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empleado.h — versión final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Empleado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private: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int legajo;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sueldo;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Empleado(int leg, string n, double s)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: legajo(leg), nombre(n), sueldo(s) {}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getNombre() const { return nombre; 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getSueldo() const { return sueldo; 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aumentarSueldo(double porcentaje)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if (porcentaje &gt; 0)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sueldo *= (1 + porcentaje / 100);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~Empleado() {}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¿Por qué aumentarSueldo(double) es mejor que exponer 'sueldo' como público con un setter genérico?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CIERRE · MÓDULO 2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Resumen — Encapsulamiento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457200" y="1463040"/>
            <a:ext cx="5394240" cy="2742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640080" y="160020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✔ </a:t>
            </a: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Ideas clave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731520" y="1965960"/>
            <a:ext cx="493704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private/protected/public controlan la visibilidad de atributos y métodos.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Getters y setters exponen el estado de forma controlada y validada.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Constructor inicializa el objeto; destructor libera recursos al finalizar su vida útil.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this identifica al objeto actual dentro de sus propios métodos.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6035040" y="1463040"/>
            <a:ext cx="5668560" cy="2742480"/>
          </a:xfrm>
          <a:prstGeom prst="roundRect">
            <a:avLst>
              <a:gd name="adj" fmla="val 2000"/>
            </a:avLst>
          </a:prstGeom>
          <a:solidFill>
            <a:srgbClr val="fff7f0"/>
          </a:solidFill>
          <a:ln w="12700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6217920" y="1600200"/>
            <a:ext cx="5302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Errores frecuentes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6309360" y="1965960"/>
            <a:ext cx="521136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Atributos declarados public por comodidad.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Asignar en el cuerpo del constructor en vez de usar la lista de inicialización.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Olvidar el destructor cuando la clase gestiona memoria dinámica (se retoma en Módulo 6-7).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Confundir this (puntero) con *this (objeto).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2"/>
          <p:cNvSpPr/>
          <p:nvPr/>
        </p:nvSpPr>
        <p:spPr>
          <a:xfrm>
            <a:off x="457200" y="4434840"/>
            <a:ext cx="11246400" cy="1873800"/>
          </a:xfrm>
          <a:prstGeom prst="roundRect">
            <a:avLst>
              <a:gd name="adj" fmla="val 2927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685800" y="457200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✏ </a:t>
            </a: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Ejercicio rápido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685800" y="4937760"/>
            <a:ext cx="107892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1450" spc="-1" strike="noStrike">
                <a:solidFill>
                  <a:srgbClr val="ffffff"/>
                </a:solidFill>
                <a:latin typeface="Calibri"/>
                <a:ea typeface="Calibri"/>
              </a:rPr>
              <a:t>Agregá a la clase Departamento un constructor por inicialización, un getter de nombre y un setter validado para un atributo 'presupuesto' (debe ser mayor a cero).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4205520" cy="685728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548640" y="214884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296" strike="noStrike">
                <a:solidFill>
                  <a:srgbClr val="e8a33d"/>
                </a:solidFill>
                <a:latin typeface="Calibri"/>
                <a:ea typeface="Calibri"/>
              </a:rPr>
              <a:t>MÓDULO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457200" y="2423160"/>
            <a:ext cx="32911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3</a:t>
            </a:r>
            <a:endParaRPr b="0" lang="es-419" sz="1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548640" y="484632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≈ </a:t>
            </a: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30 minutos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4572000" y="822960"/>
            <a:ext cx="70401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2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Relaciones entre clases</a:t>
            </a:r>
            <a:endParaRPr b="0" lang="es-419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4572000" y="2148840"/>
            <a:ext cx="676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Objetivos de esta sección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4709160" y="2606040"/>
            <a:ext cx="667440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Identificar correctamente asociación, agregación, composición y herencia.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Representar cada relación con UML.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Distinguir cuándo usar cada tipo de relación en el diseño.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3 · Relaciones entre clases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Asociación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Analizar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Definición: vínculo general en el que un objeto usa o conoce a otro, sin control sobre su ciclo de vida.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Ejemplo cotidiano: un Empleado es supervisado por un Gerente, pero ninguno depende del otro para existir.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Ventaja: bajo acoplamiento, ambos objetos son independientes.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usa cuando dos clases colaboran pero cada una tiene vida propia.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f33"/>
          </a:solidFill>
          <a:ln w="9525">
            <a:solidFill>
              <a:srgbClr val="1c9e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9e8e"/>
                </a:solidFill>
                <a:latin typeface="Calibri"/>
                <a:ea typeface="Calibri"/>
              </a:rPr>
              <a:t>UML — Asociación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+----------+          +----------+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| Empleado | -------- |  Gerente 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+----------+          +----------+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*                     1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class Empleado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Gerente* supervisor;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// Empleado NO crea ni destruye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// al Gerente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¿La relación entre un Empleado y el Gerente que aprobó su última licencia es asociación? ¿Por qué?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3 · Relaciones entre clases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Agregación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Analizar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Definición: relación "todo-parte" débil; la parte puede existir independientemente del todo.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Ejemplo cotidiano: un Departamento tiene Empleados, pero un Empleado puede existir (y transferirse a otro departamento) aunque este departamento se disuelva.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representa en UML con un rombo hueco del lado del "todo".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Ventaja: reutilización de objetos entre distintos 'todos'; desventaja: gestión de ciclo de vida menos clara.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f33"/>
          </a:solidFill>
          <a:ln w="9525">
            <a:solidFill>
              <a:srgbClr val="1c9e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9e8e"/>
                </a:solidFill>
                <a:latin typeface="Calibri"/>
                <a:ea typeface="Calibri"/>
              </a:rPr>
              <a:t>UML — Agregación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+--------------+  o----  +----------+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| Departamento |         | Empleado 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+--------------+         +----------+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class Departamento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vector&lt;Empleado*&gt; empleados;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// los Empleado* pueden vivir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// fuera del Departamento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Si se elimina el objeto Departamento, ¿deberían destruirse también los objetos Empleado? ¿Por qué eso confirma que es agregación?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3 · Relaciones entre clases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Composición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Analizar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Definición: relación "todo-parte" fuerte; la parte NO puede existir sin el todo (ciclo de vida compartido).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Ejemplo cotidiano: un Empleado tiene un ReciboSueldo de cada mes; si se elimina el Empleado, ese recibo no tiene sentido por sí solo.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representa en UML con un rombo relleno del lado del "todo".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El todo suele crear y destruir a la parte (a menudo como atributo por valor, no por puntero).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f33"/>
          </a:solidFill>
          <a:ln w="9525">
            <a:solidFill>
              <a:srgbClr val="1c9e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9e8e"/>
                </a:solidFill>
                <a:latin typeface="Calibri"/>
                <a:ea typeface="Calibri"/>
              </a:rPr>
              <a:t>UML — Composición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+----------+  ◆----  +--------------+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| Empleado |          | ReciboSueldo 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+----------+          +--------------+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class Empleado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ReciboSueldo ultimoRecibo; // valor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// ReciboSueldo muere junto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// con el Empleado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457200" y="4434840"/>
            <a:ext cx="11246400" cy="4564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594360" y="44348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Confundir composición con herencia: composición es "TIENE UN", herencia es "ES UN".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¿Por qué un atributo declarado por valor (no puntero) sugiere composición en vez de agregación?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3 · Relaciones entre clases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Herencia (introducción)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Analizar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Definición: mecanismo por el cual una clase (derivada) adquiere atributos y métodos de otra (base), modelando una relación ES-UN.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Ejemplo cotidiano: un Gerente ES UNA Persona, con características adicionales (área a cargo, bono de gestión).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Debe usarse cuando existe una verdadera relación ES-UN y se necesita polimorfismo, no sólo para reutilizar código.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profundiza junto con polimorfismo en el Módulo 4.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7"/>
          <p:cNvSpPr/>
          <p:nvPr/>
        </p:nvSpPr>
        <p:spPr>
          <a:xfrm>
            <a:off x="6080760" y="1554480"/>
            <a:ext cx="5622840" cy="3016800"/>
          </a:xfrm>
          <a:prstGeom prst="roundRect">
            <a:avLst>
              <a:gd name="adj" fmla="val 1515"/>
            </a:avLst>
          </a:prstGeom>
          <a:solidFill>
            <a:srgbClr val="0f2f33"/>
          </a:solidFill>
          <a:ln w="9525">
            <a:solidFill>
              <a:srgbClr val="1c9e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6217920" y="12618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9e8e"/>
                </a:solidFill>
                <a:latin typeface="Calibri"/>
                <a:ea typeface="Calibri"/>
              </a:rPr>
              <a:t>UML — Herencia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6263640" y="1664280"/>
            <a:ext cx="525708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| Persona 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     △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 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|    Gerente     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+----------------+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class Gerente : public Persona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string areaACargo;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0"/>
          <p:cNvSpPr/>
          <p:nvPr/>
        </p:nvSpPr>
        <p:spPr>
          <a:xfrm>
            <a:off x="457200" y="4434840"/>
            <a:ext cx="11246400" cy="4564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594360" y="44348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Usar herencia solamente porque "ahorra escribir código", sin que exista una verdadera relación ES-UN.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2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3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¿'Empleado ES UNA Persona' o más bien 'Empleado TIENE UNA Persona'? ¿Cómo se distingue?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MÓDULO 3 · Relaciones entre clases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Tabla comparativa de relaciones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Evaluar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457200" y="1417320"/>
            <a:ext cx="534852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Las cuatro relaciones permiten reutilizar diseño, pero con distinto grado de acoplamiento y dependencia de ciclo de vida.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De más débil a más fuerte: Asociación → Agregación → Composición → Herencia.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La pregunta clave para elegir: ¿es ES-UN (herencia) o TIENE-UN (las otras tres)? Y si es TIENE-UN, ¿la parte sobrevive al todo?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7"/>
          <p:cNvSpPr/>
          <p:nvPr/>
        </p:nvSpPr>
        <p:spPr>
          <a:xfrm>
            <a:off x="6080760" y="1261800"/>
            <a:ext cx="5622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6fa1"/>
                </a:solidFill>
                <a:latin typeface="Calibri"/>
                <a:ea typeface="Calibri"/>
              </a:rPr>
              <a:t>Comparación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6" name="Table 0"/>
          <p:cNvGraphicFramePr/>
          <p:nvPr/>
        </p:nvGraphicFramePr>
        <p:xfrm>
          <a:off x="6080760" y="1554480"/>
          <a:ext cx="5622840" cy="3016800"/>
        </p:xfrm>
        <a:graphic>
          <a:graphicData uri="http://schemas.openxmlformats.org/drawingml/2006/table">
            <a:tbl>
              <a:tblPr/>
              <a:tblGrid>
                <a:gridCol w="1405800"/>
                <a:gridCol w="1405800"/>
                <a:gridCol w="1405800"/>
                <a:gridCol w="1405800"/>
              </a:tblGrid>
              <a:tr h="6033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Relación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UML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Ciclo de vida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Ejemplo Empleados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Asociación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línea simple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independiente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Empleado — Gerente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Agregación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rombo hueco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parte sobrevive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Departamento — Empleado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Composición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rombo relleno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parte no sobrevive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Empleado — ReciboSueldo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Herencia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triángulo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ES-UN, no aplica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Persona — Gerente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227" name="Shape 8"/>
          <p:cNvSpPr/>
          <p:nvPr/>
        </p:nvSpPr>
        <p:spPr>
          <a:xfrm>
            <a:off x="457200" y="6080760"/>
            <a:ext cx="11246400" cy="54792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640080" y="6080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Ubicá la relación 'Empleado — Contrato' (un contrato queda archivado incluso si el empleado se desvincula, por temas legales). ¿Cuál de las cuatro es?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57200" y="255960"/>
            <a:ext cx="8686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4" strike="noStrike">
                <a:solidFill>
                  <a:srgbClr val="1c6fa1"/>
                </a:solidFill>
                <a:latin typeface="Calibri"/>
                <a:ea typeface="Calibri"/>
              </a:rPr>
              <a:t>CIERRE · MÓDULO 3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57200" y="50292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Resumen — Relaciones entre clases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9464040" y="3200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9464040" y="3200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Evaluar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9464040" y="658440"/>
            <a:ext cx="2239560" cy="29196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9464040" y="658440"/>
            <a:ext cx="2239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457200" y="1463040"/>
            <a:ext cx="5394240" cy="2742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640080" y="160020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✔ </a:t>
            </a: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Ideas clave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731520" y="1965960"/>
            <a:ext cx="493704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Asociación: colaboración sin dependencia de ciclo de vida.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Agregación: todo-parte débil (rombo hueco); la parte sobrevive al todo.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Composición: todo-parte fuerte (rombo relleno); la parte no sobrevive al todo.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Herencia: relación ES-UN que habilita el polimorfismo (Módulo 4).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9"/>
          <p:cNvSpPr/>
          <p:nvPr/>
        </p:nvSpPr>
        <p:spPr>
          <a:xfrm>
            <a:off x="6035040" y="1463040"/>
            <a:ext cx="5668560" cy="2742480"/>
          </a:xfrm>
          <a:prstGeom prst="roundRect">
            <a:avLst>
              <a:gd name="adj" fmla="val 2000"/>
            </a:avLst>
          </a:prstGeom>
          <a:solidFill>
            <a:srgbClr val="fff7f0"/>
          </a:solidFill>
          <a:ln w="12700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6217920" y="1600200"/>
            <a:ext cx="5302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Errores frecuentes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1"/>
          <p:cNvSpPr/>
          <p:nvPr/>
        </p:nvSpPr>
        <p:spPr>
          <a:xfrm>
            <a:off x="6309360" y="1965960"/>
            <a:ext cx="521136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Confundir agregación con composición por no analizar el ciclo de vida.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Usar herencia para relaciones que en realidad son TIENE-UN.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Pensar que todas las relaciones son "lo mismo" porque todas reutilizan código.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2"/>
          <p:cNvSpPr/>
          <p:nvPr/>
        </p:nvSpPr>
        <p:spPr>
          <a:xfrm>
            <a:off x="457200" y="4434840"/>
            <a:ext cx="11246400" cy="1873800"/>
          </a:xfrm>
          <a:prstGeom prst="roundRect">
            <a:avLst>
              <a:gd name="adj" fmla="val 2927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685800" y="457200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✏ </a:t>
            </a: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Ejercicio rápido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685800" y="4937760"/>
            <a:ext cx="107892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1450" spc="-1" strike="noStrike">
                <a:solidFill>
                  <a:srgbClr val="ffffff"/>
                </a:solidFill>
                <a:latin typeface="Calibri"/>
                <a:ea typeface="Calibri"/>
              </a:rPr>
              <a:t>Para el Sistema de Gestión de Empleados, clasificá la relación entre 'Empresa' y 'Departamento': ¿asociación, agregación o composición? Justificá pensando en el ciclo de vida.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Application>LibreOffice/24.2.5.2$Windows_X86_64 LibreOffice_project/bffef4ea93e59bebbeaf7f431bb02b1a39ee8a59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2026-09-30T11:52:34Z</dcterms:created>
  <dc:creator>Repaso POO C++</dc:creator>
  <dc:description/>
  <dc:language>es-419</dc:language>
  <cp:lastModifiedBy/>
  <dcterms:modified xsi:type="dcterms:W3CDTF">2026-10-03T00:11:05Z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