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A599CF-1793-45CA-876F-7EA259191727}" type="slidenum"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49A309-4F31-46F6-A404-795243955B3D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9EF236-40D8-45F7-A330-AE08B52141A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Nuevo caso de estudio de la Parte 4: Sistema de Gestión de Empleados. Aclarar que char[30] reserva SIEMPRE 30 bytes, se use o no todo el espacio.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8341E2-12E6-4034-A0BF-FD971D40343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sin ios::app, cada apertura trunca el archivo por defecto y se pierden los registros guardados anteriormente.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286A9B-2A94-4439-99E0-805C9BE798BD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El flag eof() se activa recién DESPUÉS de un intento de lectura fallido; por eso !eof() todavía deja pasar una vuelta de más del bucle.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63ED2C-37A8-40C6-B4C3-A0A37443F2C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Cerrar remarcando que ambos formatos son válidos; la elección depende de si el archivo lo necesita leer una persona o sólo el programa.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695541-F0C4-40C4-A338-5506F43E2D86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Buen momento para remarcar que esta búsqueda es distinta a buscar en un vector ya cargado en memoria: acá se lee el archivo directamente.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22FA51-AC28-48EA-8ACD-0FF459F5B761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28F9A2-51E0-420F-8B65-B5A98120ACF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Diapositiva introductoria antes de entrar al detalle de sintaxis, jerarquía de &lt;stdexcept&gt; y excepciones propias. Buen punto de partida: comparar con cómo se manejaban errores en C (códigos de retorno) para que se note la diferencia.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Resaltar primero el bloque try, luego el throw (con una flecha), y por último el catch, simulando el salto que da el control del programa.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70B158-066C-4703-8EAE-987F3C2285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el programa termina abruptamente (terminate()) porque nadie captura la excepción lanzada.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228271-7C40-45B8-A1FD-DA6DC75B7D8E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at() lanza std::out_of_range; operator[] no chequea límites por rendimiento (comportamiento indefinido si el índice es inválido).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25360F-75F1-41F6-AD94-87209C04D4E2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Devolver const char* evita que what() pueda lanzar otra excepción al construir un string, algo especialmente importante durante el manejo de errores.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00806A-F219-49F0-9EC9-EAB46F7DBF4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Cierre del Módulo 16. El Módulo 17 retoma vector&lt;Empleado&gt; ya usando la STL en vez de vectores dinámicos manuales.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21C899-F524-424B-B976-46F871C4605B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C16434-E9A2-4BEB-9578-D658A8523016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Conectar con Módulo 10 (Templates): la STL es, en esencia, una enorme biblioteca de Function Templates y Class Templates ya escritos por el comité de C++.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Aparición progresiva de cada viñeta; el diagrama de los tres pilares aparece al final, mostrando cómo se conectan.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695357-1B38-43A8-AA1F-7B93A3FFF9E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Buen momento para que los estudiantes valoren el trabajo manual del Módulo 0 como un paso necesario para ENTENDER lo que la STL hace por detrás, no como tiempo perdido.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57C649-93DC-4E7C-B228-1D9611F1A1C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Buena oportunidad para señalar que 'reinventar la rueda' (Módulo 0) sirvió para ENTENDER cómo funciona lo que ahora usamos ya hecho.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67CA57-2BEE-4FF1-976E-962BB38FCA4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Remarcar que operator[] en map SIEMPRE devuelve algo (creando la entrada si hace falta); find() nunca modifica el map.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41A1AD-8FB3-4716-997D-53EB018D5AA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comportamiento indefinido; end() es un centinela que marca el límite, no un elemento real.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EB4466-ADF6-4D5D-B381-395BA595AE4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[bono] copia el valor de bono al momento de crear la lambda; [&amp;bono] guarda una referencia y refleja cambios posteriores a la variable original.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A5CE00-089F-4B9B-9D0A-88EC9FC84296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invertir la comparación → return a.sueldo &gt; b.sueldo;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827FEA-E647-451B-872D-C8EB1761054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find() sólo puede comparar igualdad exacta; find_if permite cualquier condición arbitraria sobre el elemento.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FBF9B3-1CC2-41D4-ABB0-C53E6D99FD1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back_inserter genera, por cada elemento copiado, una llamada equivalente a conSueldoAlto.push_back(elemento).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9EC5B0-9145-4043-951B-9D5BB18A7A7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Cierre del Módulo 17. La siguiente diapositiva integra archivos, excepciones y STL en un solo ejercicio.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895F28-0D8E-443F-BFA3-B12BA299BDB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Dar 10-12 minutos para que lo resuelvan en parejas. Recorrer los bancos y luego resolverlo en el pizarrón conectando cada paso con el módulo correspondiente (15, 16 o 17).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7C356F-B8F9-409C-A7C3-4A6D1BAF03B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Dar 3-4 minutos por bloque de preguntas antes de discutir las respuestas en voz alta.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658FC2-AC32-4E92-B7FC-838AFC3CA65D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Dar 3-4 minutos por bloque de preguntas antes de discutir las respuestas en voz alta.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40BECA-9078-4A41-98FF-405AB9FB20DB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Última diapositiva de la Parte 4. Recorrer el mapa conectando cada bloque con el Sistema de Gestión de Empleados usado en todo este bloque. Cerrar deseando éxito en el parcial.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6202C1-DF45-402A-BE1D-1B16ACB33CFE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419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419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40080" y="640080"/>
            <a:ext cx="10906920" cy="5576040"/>
          </a:xfrm>
          <a:prstGeom prst="roundRect">
            <a:avLst>
              <a:gd name="adj" fmla="val 984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005840" y="1280160"/>
            <a:ext cx="1014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188" strike="noStrike">
                <a:solidFill>
                  <a:srgbClr val="e8a33d"/>
                </a:solidFill>
                <a:latin typeface="Calibri"/>
                <a:ea typeface="Calibri"/>
              </a:rPr>
              <a:t>REPASO INTEGRADOR · PARTE 3</a:t>
            </a:r>
            <a:endParaRPr b="0" lang="es-419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005840" y="1783080"/>
            <a:ext cx="10148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s-419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Programación Orientada a Objetos en C++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s-419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Repaso Parcial 2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005840" y="3611880"/>
            <a:ext cx="10148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800" spc="-1" strike="noStrike">
                <a:solidFill>
                  <a:srgbClr val="dceaf2"/>
                </a:solidFill>
                <a:latin typeface="Calibri"/>
                <a:ea typeface="Calibri"/>
              </a:rPr>
              <a:t>Nuevo caso de estudio: Sistema de Gestión de Empleados</a:t>
            </a: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05840" y="4617720"/>
            <a:ext cx="5850360" cy="1415520"/>
          </a:xfrm>
          <a:prstGeom prst="roundRect">
            <a:avLst>
              <a:gd name="adj" fmla="val 3871"/>
            </a:avLst>
          </a:prstGeom>
          <a:solidFill>
            <a:srgbClr val="0f2438"/>
          </a:solidFill>
          <a:ln w="6350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188720" y="4709160"/>
            <a:ext cx="548460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ObjetoDeEstudio {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Conocimiento conocimiento;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prepararParcial();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1005840" y="6172200"/>
            <a:ext cx="1014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8faac0"/>
                </a:solidFill>
                <a:latin typeface="Calibri"/>
                <a:ea typeface="Calibri"/>
              </a:rPr>
              <a:t>Archivos binarios y de texto · Manejo de excepciones (try/catch) · STL: vector, map, algoritmos, lambdas e iteradores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4204440" cy="685620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2148840"/>
            <a:ext cx="32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87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57200" y="2423160"/>
            <a:ext cx="329004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6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548640" y="484632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25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572000" y="822960"/>
            <a:ext cx="7039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Archivos: binario con struct y texto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4572000" y="2148840"/>
            <a:ext cx="676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4709160" y="2606040"/>
            <a:ext cx="6673320" cy="38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Diseñar un struct apto para persistir en un archivo binario.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Escribir y leer registros con write()/read() en modo binario.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Comparar la persistencia binaria con la persistencia en archivos de texto.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6 · Archivos · Sistema de Gestión de Empleados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El struct Empleado: un registro de tamaño fijo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struct agrupa datos relacionados en un solo tipo; a diferencia de una clase, sus miembros son públicos por defecto.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Para grabarlo tal cual en un archivo binario, el struct debe tener tamaño fijo y conocido: sizeof(Empleado).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Por eso el nombre se declara char nombre[30] y NO string: string guarda internamente un puntero al heap, que no tiene sentido fuera del programa.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Tampoco deben usarse vector, punteros u otros tipos con memoria dinámica dentro de un struct que se va a persistir en binario.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struct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legajo;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char nombre[30];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sueldo;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e1 = {1001, "Ana Gomez", 350000.0};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sizeof(Empleado);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siempre el mismo tamaño en bytes,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sin importar el contenido de nombre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457200" y="511884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594360" y="511884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n-US" sz="1250" spc="-1" strike="noStrike">
                <a:solidFill>
                  <a:srgbClr val="1b2733"/>
                </a:solidFill>
                <a:latin typeface="Calibri"/>
                <a:ea typeface="Calibri"/>
              </a:rPr>
              <a:t>Declarar 'string nombre;' dentro de un struct que luego se graba con write(): el archivo queda corrupto porque std::string no guarda el texto en línea, sino un puntero.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sizeof(Empleado) da siempre el mismo valor sin importar cuán largo sea el nombre cargado?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6 · Archivos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Escribir un archivo binario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ofstream con ios::binary abre el archivo en modo binario.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write() vuelca los bytes crudos de una variable; exige un puntero a char*, por eso el reinterpret_cast&lt;char*&gt;/(char*).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segundo argumento de write() es la cantidad exacta de bytes a escribir: sizeof(Empleado).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ios::app agrega el registro al final del archivo sin borrar lo que ya existía.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guardar empleado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#include &lt;fstream&gt;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guardarEmpleado(const Empleado&amp;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ofstream archivo("empleados.dat",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ios::binary | ios::app);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archivo.write(reinterpret_cast&lt;const char*&gt;(&amp;e),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sizeof(Empleado));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archivo.close();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57200" y="515484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594360" y="515484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Olvidar ios::binary al abrir el archivo: algunos sistemas pueden alterar bytes que coincidan con saltos de línea, corrompiendo el registro.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pasaría si abrimos el archivo sólo con ios::binary (sin ios::app) cada vez que guardamos un nuevo empleado?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6 · Archivos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Leer un archivo binario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read() es simétrico a write(): lee sizeof(Empleado) bytes y los vuelca sobre la variable indicada.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patrón estándar recorre el archivo registro por registro hasta que la lectura falla (fin de archivo).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'while (archivo.read(...))' corta el ciclo automáticamente, porque read() devuelve un stream que se evalúa como false al fallar.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cargar empleados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vector&lt;Empleado&gt; cargarEmpleados()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ifstream archivo("empleados.dat", ios::binary);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vector&lt;Empleado&gt; empleados;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while (archivo.read(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reinterpret_cast&lt;char*&gt;(&amp;e),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sizeof(Empleado)))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empleados.push_back(e);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archivo.close();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empleados;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57200" y="515484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594360" y="515484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Usar 'while (!archivo.eof())' en vez de comprobar el resultado de read(): suele procesar un registro 'fantasma' de más al llegar al final.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'while (archivo.read(...))' es más seguro que 'while (!archivo.eof())'?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6 · Archivos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Archivos de texto: la alternativa legible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archivo de texto guarda los datos como caracteres legibles, usando operator&lt;&lt; para escribir y getline() para leer línea por línea.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 fácil de inspeccionar con cualquier editor, pero cada campo debe convertirse a texto al escribir y volver a interpretarse (parsear) al leer.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A diferencia del binario, NO se puede volcar el struct completo de una sola vez: hay que escribir/leer campo por campo.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empleados.txt (formato "legajo;nombre;sueldo")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ofstream txt("empleados.txt", ios::app);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txt &lt;&lt; e.legajo &lt;&lt; ";" &lt;&lt; e.nombre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&lt;&lt; ";" &lt;&lt; e.sueldo &lt;&lt; "\n";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ifstream in("empleados.txt");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linea;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while (getline(in, linea))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parsear 'linea' separando por ';'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457200" y="4434840"/>
          <a:ext cx="11246760" cy="95904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239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419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Aspecto</a:t>
                      </a:r>
                      <a:endParaRPr b="0" lang="es-419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Binario</a:t>
                      </a:r>
                      <a:endParaRPr b="0" lang="es-419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Texto</a:t>
                      </a:r>
                      <a:endParaRPr b="0" lang="es-419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</a:tr>
              <a:tr h="239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Legible a simple vista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9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Escritura del struct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de una vez (write)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campo por campo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239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Tamaño típico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menor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mayor</a:t>
                      </a:r>
                      <a:endParaRPr b="0" lang="es-419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Shape 10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formato elegirías para un archivo que un usuario deba poder abrir y editar con un editor de texto común? ¿Y para uno que sólo procesa el propio programa?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CIERRE · MÓDULO 6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Archivos: binario con struct y texto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 /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457200" y="1463040"/>
            <a:ext cx="5393160" cy="2741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640080" y="1600200"/>
            <a:ext cx="5027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731520" y="1965960"/>
            <a:ext cx="493596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Un struct para binario debe tener tamaño fijo: sin string, punteros ni contenedores dinámicos adentro.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write()/read() con reinterpret_cast&lt;char*&gt;/(char*) y sizeof(Empleado) graban/leen el registro completo de una vez.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Los archivos de texto son legibles pero requieren convertir y parsear cada campo manualmente.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6035040" y="1463040"/>
            <a:ext cx="5667480" cy="274140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6217920" y="1600200"/>
            <a:ext cx="5301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6309360" y="1965960"/>
            <a:ext cx="521028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Usar std::string u otros tipos dinámicos dentro de un struct que se graba en binario.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Olvidar ios::binary o ios::app al abrir el archivo.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Cortar el bucle de lectura con eof() en vez de comprobar el resultado de read().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Mezclar lectura de texto (getline) con un archivo abierto en modo binario, o viceversa.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457200" y="4434840"/>
            <a:ext cx="11245320" cy="187272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685800" y="4572000"/>
            <a:ext cx="4570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685800" y="4937760"/>
            <a:ext cx="1078812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Escribí una función 'bool buscarPorLegajo(int legajo, Empleado&amp; resultado)' que recorra 'empleados.dat' registro por registro (sin cargar todo en memoria) y devuelva true si lo encuentra, completando 'resultado'.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4204440" cy="685620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48640" y="2148840"/>
            <a:ext cx="32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87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457200" y="2423160"/>
            <a:ext cx="329004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7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48640" y="484632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20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572000" y="822960"/>
            <a:ext cx="7039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Manejo de excepciones (try/catch)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4572000" y="2148840"/>
            <a:ext cx="676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709160" y="2606040"/>
            <a:ext cx="6673320" cy="38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Aplicar try/catch/throw para manejar errores en tiempo de ejecución.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Utilizar la jerarquía de excepciones estándar de &lt;stdexcept&gt;.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Diseñar una excepción propia y combinarla con el manejo de archivos.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45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7 · Excepciones · Introducción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Manejo de excepciones: ¿qué es y para qué sirve?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7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48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9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n-US" sz="1500" spc="-1" strike="noStrike">
                <a:solidFill>
                  <a:srgbClr val="1b2733"/>
                </a:solidFill>
                <a:latin typeface="Calibri"/>
                <a:ea typeface="Calibri"/>
              </a:rPr>
              <a:t>Una excepción es un mecanismo para manejar errores en tiempo de ejecución, separando el código "normal" del código que maneja fallas.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n-US" sz="1500" spc="-1" strike="noStrike">
                <a:solidFill>
                  <a:srgbClr val="1b2733"/>
                </a:solidFill>
                <a:latin typeface="Calibri"/>
                <a:ea typeface="Calibri"/>
              </a:rPr>
              <a:t>throw lanza una excepción cuando algo sale mal; try delimita el bloque riesgoso; catch la captura y decide qué hacer.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n-US" sz="1500" spc="-1" strike="noStrike">
                <a:solidFill>
                  <a:srgbClr val="1b2733"/>
                </a:solidFill>
                <a:latin typeface="Calibri"/>
                <a:ea typeface="Calibri"/>
              </a:rPr>
              <a:t>Sin excepciones, cada función devuelve un código de error (-1, false, nullptr) que hay que revisar a mano después de CADA llamada — fácil de olvidar.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n-US" sz="1500" spc="-1" strike="noStrike">
                <a:solidFill>
                  <a:srgbClr val="1b2733"/>
                </a:solidFill>
                <a:latin typeface="Calibri"/>
                <a:ea typeface="Calibri"/>
              </a:rPr>
              <a:t>Con excepciones, el error "viaja" automáticamente hacia arriba por las llamadas hasta encontrar un catch que lo maneje, sin chequeos manuales intermedios.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0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9e8e"/>
                </a:solidFill>
                <a:latin typeface="Calibri"/>
                <a:ea typeface="Calibri"/>
              </a:rPr>
              <a:t>Flujo de try / throw / catch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1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try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...codigo que puede fallar...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throw ArchivoNoDisponible();  &lt;- LANZA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...esta línea NUNCA se ejecuta...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catch (ArchivoNoDisponible&amp;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cout &lt;&lt; e.what();             &lt;- ATRAPA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...el programa sigue normalmente...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Si ningún catch coincide: terminate()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(el programa termina abruptamente)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457200" y="5118840"/>
            <a:ext cx="11246400" cy="4564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2"/>
          <p:cNvSpPr/>
          <p:nvPr/>
        </p:nvSpPr>
        <p:spPr>
          <a:xfrm>
            <a:off x="594360" y="5118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n-US" sz="1250" spc="-1" strike="noStrike">
                <a:solidFill>
                  <a:srgbClr val="1b2733"/>
                </a:solidFill>
                <a:latin typeface="Calibri"/>
                <a:ea typeface="Calibri"/>
              </a:rPr>
              <a:t>Dejar un catch vacío (sin hacer nada con el error) sólo para que el programa "no se caiga": el problema sigue ahí, pero ahora oculto y más difícil de detectar.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3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ventaja tiene usar excepciones en vez de que cada función devuelva un código de error que hay que chequear a mano después de cada llamada?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7 · Excepciones · Sistema de Gestión de Empleados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try / catch / throw: sintaxis básica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" sz="1500" spc="-1" strike="noStrike">
                <a:solidFill>
                  <a:srgbClr val="1b2733"/>
                </a:solidFill>
                <a:latin typeface="Calibri"/>
                <a:ea typeface="Calibri"/>
              </a:rPr>
              <a:t>try delimita el bloque de código que puede lanzar una excepción.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" sz="1500" spc="-1" strike="noStrike">
                <a:solidFill>
                  <a:srgbClr val="1b2733"/>
                </a:solidFill>
                <a:latin typeface="Calibri"/>
                <a:ea typeface="Calibri"/>
              </a:rPr>
              <a:t>throw lanza una excepción: interrumpe el flujo normal y busca, subiendo por las llamadas, un catch que la maneje.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catch(Tipo&amp; e) captura excepciones de ese tipo (o compatibles) y ejecuta el código de manejo.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 ningún catch coincide en todo el programa, se llama a terminate() y el programa finaliza abruptamente.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validación de sueldo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calcularSueldoNeto(double bruto)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(bruto &lt; 0)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throw invalid_argument(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"El sueldo no puede ser negativo");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bruto * 0.83;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try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neto = calcularSueldoNeto(-500);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neto;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 catch (invalid_argument&amp;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"Error: " &lt;&lt; e.what();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454320" y="525600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591480" y="522000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Escribir 'catch (exception e)' capturando por VALOR en vez de por referencia: copia el objeto innecesariamente y puede recortar (slicing) excepciones derivadas.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ocurre si quitamos el try/catch y llamamos directamente a calcularSueldoNeto(-500)?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7 · Excepciones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Excepciones estándar de &lt;stdexcept&gt;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&lt;stdexcept&gt; ya define una jerarquía de excepciones lista para usar, todas derivadas de std::exception.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invalid_argument: un argumento no es válido para la operación (por ejemplo, un sueldo negativo).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out_of_range: acceso fuera de los límites válidos (por ejemplo, vector::at(indice) con un índice inválido).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runtime_error: error genérico que sólo puede detectarse en tiempo de ejecución (por ejemplo, un archivo que no pudo abrirse).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6080760" y="1261800"/>
            <a:ext cx="5621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6fa1"/>
                </a:solidFill>
                <a:latin typeface="Calibri"/>
                <a:ea typeface="Calibri"/>
              </a:rPr>
              <a:t>Jerarquía práctica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6080760" y="1554480"/>
          <a:ext cx="5623200" cy="30168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</a:tblGrid>
              <a:tr h="754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Excepción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Cuándo se usa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Ejemplo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invalid_argument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argumento no válido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sueldo negativo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out_of_range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índice fuera de rango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vector.at(50) con 10 elementos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runtime_error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error genérico de ejecución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archivo no pudo abrirse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Shape 8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excepción lanza automáticamente vector::at() con un índice inválido? ¿Por qué operator[] NO hace lo mismo?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7 · Excepciones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Excepción propia, combinada con el manejo de archivos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puede crear una clase propia derivada de std::exception, sobrescribiendo what() para dar un mensaje descriptivo del dominio.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Útil para errores específicos del sistema, como 'no se pudo abrir el archivo de empleados'.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Antes de leer o escribir, conviene comprobar is_open() y lanzar la excepción propia si el archivo no está disponible.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archivo_no_disponible.h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ArchivoNoDisponible : public exception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const char* what() const noexcept override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"No se pudo abrir empleados.dat";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ifstream archivo("empleados.dat", ios::binary);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(!archivo.is_open())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throw ArchivoNoDisponible();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454320" y="522000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591480" y="522000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Olvidar 'const' y 'noexcept' al sobrescribir what(): la firma no coincide con la de std::exception y el código no compila.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what() devuelve 'const char*' y no 'string'?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CIERRE · MÓDULO 7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Manejo de excepciones (try/catch)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457200" y="1463040"/>
            <a:ext cx="5393160" cy="2741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640080" y="1600200"/>
            <a:ext cx="5027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731520" y="1965960"/>
            <a:ext cx="493596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throw lanza, try delimita el bloque riesgoso, catch(Tipo&amp;) maneja la excepción.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&lt;stdexcept&gt; ofrece invalid_argument, out_of_range y runtime_error listas para usar.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Una excepción propia deriva de std::exception y sobrescribe what() con la firma exacta (const, noexcept).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Antes de operar con un archivo conviene comprobar is_open() y lanzar una excepción propia si falló.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>
            <a:off x="6035040" y="1463040"/>
            <a:ext cx="5667480" cy="274140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6217920" y="1600200"/>
            <a:ext cx="5301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6309360" y="1965960"/>
            <a:ext cx="521028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Capturar por valor en vez de por referencia (catch (Tipo&amp; e)).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Olvidar const/noexcept en la firma de what() al sobrescribirlo.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No comprobar is_open() antes de leer o escribir un archivo.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Atrapar la excepción y no hacer nada con ella (catch vacío que oculta el error).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457200" y="4434840"/>
            <a:ext cx="11245320" cy="187272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685800" y="4572000"/>
            <a:ext cx="4570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685800" y="4937760"/>
            <a:ext cx="1078812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Modificá cargarEmpleados() del Módulo 15 para que lance ArchivoNoDisponible si el archivo no existe, y escribí un main() que la capture e informe el error con e.what().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0"/>
            <a:ext cx="4204440" cy="685620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2148840"/>
            <a:ext cx="32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87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57200" y="2423160"/>
            <a:ext cx="329004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8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48640" y="484632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35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4572000" y="822960"/>
            <a:ext cx="7039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STL: vector, map, algoritmos y lambdas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4572000" y="2148840"/>
            <a:ext cx="676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4709160" y="2606040"/>
            <a:ext cx="6673320" cy="38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Que es STL?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Usar vector&lt;T&gt; y map&lt;K,V&gt; de la STL en reemplazo de estructuras manuales.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Recorrer contenedores con iteradores y range-based for.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Aplicar lambdas junto con sort, find_if y copy_if de &lt;algorithm&gt;.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17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8 · STL · Introducción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¿Qué es la STL?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4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STL (Standard Template Library) es la biblioteca estándar de C++ con estructuras de datos y algoritmos genéricos, ya implementados, probados y optimizados.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apoya en los Templates, vistos anteriormente: el mismo código sirve para int, string, Empleado o cualquier tipo, sin reescribirlo.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organiza en tres grandes familias que trabajan juntas: Contenedores, Algoritmos e Iteradores.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No es "otro lenguaje": son clases y funciones que ya vienen con el compilador, disponibles con #include &lt;vector&gt;, &lt;map&gt;, &lt;algorithm&gt;, etc.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6080760" y="1554480"/>
            <a:ext cx="5622480" cy="301644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31"/>
          <p:cNvSpPr/>
          <p:nvPr/>
        </p:nvSpPr>
        <p:spPr>
          <a:xfrm>
            <a:off x="6217920" y="1261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Los tres pilares de la STL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3"/>
          <p:cNvSpPr/>
          <p:nvPr/>
        </p:nvSpPr>
        <p:spPr>
          <a:xfrm>
            <a:off x="6263640" y="1664280"/>
            <a:ext cx="525672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CONTENEDORES              ALGORITMOS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vector, map,              sort, find,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list, set, ...            copy_if, ...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\                      /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\                    /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\                  /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ITERADORES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(el "intermediario" que conecta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cualquier contenedor con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cualquier algoritmo)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6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tienen en común vector&lt;int&gt; y vector&lt;Empleado&gt; para que el mismo sort() funcione con ambos?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37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8 · STL · Introducción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8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¿Para qué sirve la STL?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9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9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4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1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Evita reinventar la rueda: en el principio de la materia implementamos un vector dinámico a mano; la STL ya resuelve eso (y mucho más) de forma optimizada.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Reduce errores: menos código manual de new/delete significa menos memory leaks y menos punteros.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Hace el código más corto y expresivo: un sort() con lambda reemplaza varias líneas de bucles manuales.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 intercambiable: gracias a los iteradores, el mismo algoritmo (sort, find_if, copy_if) funciona sobre distintos contenedores.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1"/>
          <p:cNvSpPr/>
          <p:nvPr/>
        </p:nvSpPr>
        <p:spPr>
          <a:xfrm>
            <a:off x="5943600" y="1554480"/>
            <a:ext cx="5622480" cy="301644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42"/>
          <p:cNvSpPr/>
          <p:nvPr/>
        </p:nvSpPr>
        <p:spPr>
          <a:xfrm>
            <a:off x="6217920" y="1261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Sin STL (Módulo 0) vs. con STL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43"/>
          <p:cNvSpPr/>
          <p:nvPr/>
        </p:nvSpPr>
        <p:spPr>
          <a:xfrm>
            <a:off x="6263640" y="1664280"/>
            <a:ext cx="525672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SIN STL — vector a mano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int* datos = new int[cantidad+1];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for (int i=0;i&lt;cantidad;i++)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nuevo[i] = datos[i];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delete[] datos;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CON STL — vector&lt;T&gt;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vector&lt;int&gt; datos;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datos.push_back(valor);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la STL reserva, copia y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libera memoria por vos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4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Después de haber hecho todo a mano en el Módulo Inicial, ¿qué ventajas concretas le ves a delegarle este trabajo a la STL?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vector&lt;T&gt;: la versión de la STL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vector&lt;T&gt; es el arreglo dinámico de la STL: crece automáticamente, sin que el programador maneje new/delete manualmente.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Internamente resuelve el mismo problema que implementamos con Vector Dinamico, pero de forma optimizada y ya probada.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push_back agrega al final; size() devuelve la cantidad actual; operator[] accede sin chequeo, at() accede CON chequeo (lanza out_of_range).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vector&lt;Empleado&gt;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#include &lt;vector&gt;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vector&lt;Empleado&gt; empleados;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empleados.push_back({1001,"Ana Gomez",350000});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empleados.push_back({1002,"Juan Perez",280000});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empleados.size();       // 2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empleados[0].nombre;    // sin chequeo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empleados.at(5).nombre; // out_of_range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Después de haber implementado a mano el vector dinámico, ¿qué gana el programador al usar vector&lt;T&gt; de la STL?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map&lt;K,V&gt;: acceso rápido por clave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map&lt;K,V&gt; almacena pares clave-valor, ordenados automáticamente por la clave.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Permite ubicar un empleado por legajo sin recorrer todo el vector, a diferencia de una búsqueda lineal.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operator[] con una clave inexistente la CREA con un valor por defecto; find() es más seguro cuando sólo se quiere consultar.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map&lt;int, Empleado&gt;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#include &lt;map&gt;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map&lt;int, Empleado&gt; porLegajo;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for (const Empleado&amp; e : empleados)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porLegajo[e.legajo] = 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auto it = porLegajo.find(1002);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(it != porLegajo.end())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it-&gt;second.nombre;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it-&gt;first = clave, it-&gt;second = valor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457200" y="515484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594360" y="515484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Usar 'porLegajo[999]' sólo para verificar si existe: si el legajo 999 no estaba, el map crea automáticamente una entrada vacía para esa clave.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diferencia hay entre 'porLegajo[1002]' y 'porLegajo.find(1002)' cuando el legajo 1002 NO existe?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Iteradores: el puente entre contenedores y algoritmos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iterador es un objeto que 'apunta' a un elemento dentro de un contenedor y sabe avanzar al siguiente con ++it.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begin() apunta al primer elemento; end() apunta una posición DESPUÉS del último (nunca se desreferencia).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range-based for (for (auto&amp; e : empleados)) es una forma simplificada que usa begin()/end() por detrás.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En un map, desreferenciar un iterador da un par: it-&gt;first (clave) e it-&gt;second (valor).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recorrido con iterador vs. range-based for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for (vector&lt;Empleado&gt;::iterator it =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empleados.begin();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it != empleados.end(); ++it)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it-&gt;nombre &lt;&lt; " 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equivalente, más simple: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for (const Empleado&amp; e : empleados)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e.nombre &lt;&lt; " 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pasaría si hago ++it cuando it ya es igual a empleados.end()?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Lambdas: funciones anónimas 'al vuelo'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Una lambda es una función anónima definida en el lugar donde se necesita, ideal para pasarla como argumento a un algoritmo.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Sintaxis general: [captura](parámetros) -&gt; tipoRetorno { cuerpo }.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La captura indica qué variables externas puede usar: [=] por valor, [&amp;] por referencia, [bono] sólo esa variable.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usan constantemente junto con sort, find_if y copy_if de &lt;algorithm&gt;, en lugar de escribir una función aparte.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lambdas de ejemplo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6120000" y="162000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bono = 1.10;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auto conBono = [bono](const Empleado&amp;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e.sueldo * bono;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conBono(empleados[0]);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auto masDe300k = [](const Empleado&amp;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e.sueldo &gt; 300000;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diferencia hay entre capturar '[bono]' y capturar '[&amp;bono]' dentro de la lambda?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Algoritmo sort() con lambda comparadora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sort(inicio, fin) ordena por defecto con operator&lt;, pero para una clase como Empleado hace falta indicar CÓMO comparar.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tercer argumento de sort puede ser una lambda que reciba dos elementos y devuelva true si el primero debe ir antes que el segundo.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 el mismo principio que los Function Templates: un algoritmo genérico, parametrizado con el criterio de comparación.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ordenar por sueldo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#include &lt;algorithm&gt;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sort(empleados.begin(), empleados.end(),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[](const Empleado&amp; a, const Empleado&amp; b)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a.sueldo &lt; b.sueldo; // ascendente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457200" y="5118840"/>
            <a:ext cx="11245320" cy="455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594360" y="5118840"/>
            <a:ext cx="109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Escribir un comparador que no sea estrictamente 'menor que' (por ejemplo, usar &lt;= en vez de &lt;): produce comportamiento indefinido en sort.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¿Cómo cambiarías el comparador para ordenar a los empleados de MAYOR a MENOR sueldo?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find() y find_if()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find(inicio, fin, valor) busca un valor exacto y devuelve un iterador a la primera coincidencia (o end() si no aparece).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find_if(inicio, fin, predicado) busca el primer elemento que cumple una condición expresada como lambda.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Ambos recorren linealmente el rango, a diferencia de map::find(), que aprovecha el orden interno del map.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6078240" y="1374840"/>
            <a:ext cx="5621760" cy="456516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buscar por legajo en el vector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auto it = find_if(empleados.begin(),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empleados.end(),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[](const Empleado&amp;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e.legajo == 1002;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(it != empleados.end())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"Encontrado: " &lt;&lt; it-&gt;nombre;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else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"No encontrado";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"el primer empleado con sueldo mayor a 300000"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find_if(empleados.begin(), empleados.end(),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[](const Empleado&amp; e) { return e.sueldo &gt; 300000; 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"el primer empleado cuyo nombre empiece con 'A'"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find_if(empleados.begin(), empleados.end(),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[](const Empleado&amp; e) { return e.nombre[0] == 'A'; 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0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find_if necesita una lambda (predicado) mientras que find() se conforma con un valor?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MÓDULO 8 · STL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copy_if(): filtrar de forma declarativa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457200" y="1417320"/>
            <a:ext cx="53474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copy_if(inicio, fin, destino, predicado) copia al destino sólo los elementos que cumplen la condición.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destino necesita espacio disponible; back_inserter() lo resuelve invocando push_back() automáticamente por cada copia.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 una forma declarativa de filtrar datos, evitando escribir un for + if manual como en los módulos anteriores.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6080760" y="1554480"/>
            <a:ext cx="5621760" cy="30157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6217920" y="12618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empleados con sueldo alto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6263640" y="1664280"/>
            <a:ext cx="525600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#include &lt;iterator&gt;  // back_inserter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vector&lt;Empleado&gt; conSueldoAlto;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copy_if(empleados.begin(), empleados.end(),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back_inserter(conSueldoAlto),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[](const Empleado&amp; 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e.sueldo &gt; 300000;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conSueldoAlto.size();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457200" y="6080760"/>
            <a:ext cx="11245320" cy="54684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640080" y="6080760"/>
            <a:ext cx="1097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relación tiene back_inserter con el push_back que ya conocemos de vector&lt;T&gt;?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CIERRE · MÓDULO 8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STL: vector, map, algoritmos y lambdas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 /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6"/>
          <p:cNvSpPr/>
          <p:nvPr/>
        </p:nvSpPr>
        <p:spPr>
          <a:xfrm>
            <a:off x="457200" y="1463040"/>
            <a:ext cx="5393160" cy="2741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640080" y="1600200"/>
            <a:ext cx="5027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731520" y="1965960"/>
            <a:ext cx="493596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vector&lt;T&gt; automatiza lo que implementamos como vector dinámico; map&lt;K,V&gt; indexa por clave para búsquedas rápidas.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Los iteradores (begin()/end()) conectan cualquier contenedor con los algoritmos de &lt;algorithm&gt;.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Las lambdas ([captura](params){cuerpo}) parametrizan el comportamiento de sort, find_if y copy_if.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sort ordena con un comparador, find_if busca por condición, copy_if filtra con back_inserter.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6035040" y="1463040"/>
            <a:ext cx="5667480" cy="274140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6217920" y="1600200"/>
            <a:ext cx="5301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6309360" y="1965960"/>
            <a:ext cx="521028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Usar operator[] de map sólo para consultar (crea la entrada si no existía).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Comparador de sort que no es estrictamente 'menor que'.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Usar copy_if sin back_inserter hacia un contenedor sin espacio reservado.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2"/>
          <p:cNvSpPr/>
          <p:nvPr/>
        </p:nvSpPr>
        <p:spPr>
          <a:xfrm>
            <a:off x="457200" y="4434840"/>
            <a:ext cx="11245320" cy="187272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685800" y="4572000"/>
            <a:ext cx="4570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685800" y="4937760"/>
            <a:ext cx="1078812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Escribí una lambda y usá copy_if para obtener, a partir de 'empleados', un vector&lt;Empleado&gt; con quienes tengan legajo par, y luego ordenalos por nombre con sort.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EJERCICIO INTEGRADOR · Módulos 6 a 8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457200" y="502920"/>
            <a:ext cx="8867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Integrando archivos, excepciones y STL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Crear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12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457200" y="1371600"/>
            <a:ext cx="112453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Cargá los empleados desde 'empleados.dat' con cargarEmpleados(), capturando ArchivoNoDisponible si el archivo no existe.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Guardá los empleados en un vector&lt;Empleado&gt; y también en un map&lt;int,Empleado&gt; indexado por legajo.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Usá sort() con una lambda para ordenar el vector por sueldo, de mayor a menor.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Usá find_if() con una lambda para localizar un empleado por legajo ingresado por el usuario.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Usá copy_if() + back_inserter() para generar un vector&lt;Empleado&gt; con quienes ganan más que un sueldo dado.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Mostrá con un range-based for el resultado final, recorriendo con const Empleado&amp;.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457200" y="5989320"/>
            <a:ext cx="11245320" cy="638280"/>
          </a:xfrm>
          <a:prstGeom prst="roundRect">
            <a:avLst>
              <a:gd name="adj" fmla="val 8571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640080" y="598932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Este ejercicio combina TODOS los temas de la Parte 3 en un solo programa,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SIMULACRO DE PARCIAL · Módulos 6 a 8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457200" y="502920"/>
            <a:ext cx="8867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4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Preguntas conceptuales 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Recordar /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4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6"/>
          <p:cNvSpPr/>
          <p:nvPr/>
        </p:nvSpPr>
        <p:spPr>
          <a:xfrm>
            <a:off x="457200" y="1280160"/>
            <a:ext cx="11245320" cy="51188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777240" y="1508760"/>
            <a:ext cx="1060524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1. ¿Por qué un struct que se graba en binario no debe tener atributos de tipo string ni punteros?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2. ¿Qué diferencia hay entre abrir un archivo con ios::binary y sin especificarlo?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3. ¿Qué código de control corta correctamente un bucle de lectura binaria: comprobar read() o comprobar eof()?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4. ¿Qué hace exactamente la palabra clave throw?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5. ¿Qué pasa si una excepción lanzada no es capturada por ningún catch?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/>
          <p:nvPr/>
        </p:nvSpPr>
        <p:spPr>
          <a:xfrm>
            <a:off x="457200" y="255960"/>
            <a:ext cx="8685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86" strike="noStrike">
                <a:solidFill>
                  <a:srgbClr val="1c6fa1"/>
                </a:solidFill>
                <a:latin typeface="Calibri"/>
                <a:ea typeface="Calibri"/>
              </a:rPr>
              <a:t>SIMULACRO DE PARCIAL · Módulos 6 a 8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457200" y="502920"/>
            <a:ext cx="8867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4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Preguntas conceptuales 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"/>
          <p:cNvSpPr/>
          <p:nvPr/>
        </p:nvSpPr>
        <p:spPr>
          <a:xfrm>
            <a:off x="9464040" y="3200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9464040" y="3200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 /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4"/>
          <p:cNvSpPr/>
          <p:nvPr/>
        </p:nvSpPr>
        <p:spPr>
          <a:xfrm>
            <a:off x="9464040" y="658440"/>
            <a:ext cx="2238480" cy="29088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9464040" y="658440"/>
            <a:ext cx="22384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4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6"/>
          <p:cNvSpPr/>
          <p:nvPr/>
        </p:nvSpPr>
        <p:spPr>
          <a:xfrm>
            <a:off x="457200" y="1280160"/>
            <a:ext cx="11245320" cy="51188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777240" y="1508760"/>
            <a:ext cx="1060524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1. ¿Qué excepción de &lt;stdexcept&gt; usarías para un índice fuera de rango? ¿Y para un argumento inválido?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2. ¿Qué diferencia hay entre map::operator[] y map::find() cuando la clave no existe?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3. ¿Qué apunta end() en un vector? 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4. ¿Qué significa capturar una variable por referencia ([&amp;]) en una lambda?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1b2733"/>
                </a:solidFill>
                <a:latin typeface="Calibri"/>
                <a:ea typeface="Calibri"/>
              </a:rPr>
              <a:t>5. ¿Qué requisito debe cumplir el comparador que se le pasa a sort()?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548640" y="320040"/>
            <a:ext cx="9142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188" strike="noStrike">
                <a:solidFill>
                  <a:srgbClr val="e8a33d"/>
                </a:solidFill>
                <a:latin typeface="Calibri"/>
                <a:ea typeface="Calibri"/>
              </a:rPr>
              <a:t>CIERRE · PARTE 3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48640" y="6858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8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Mapa conceptual: Archivos, Excepciones y STL</a:t>
            </a:r>
            <a:endParaRPr b="0" lang="es-419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548640" y="160020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e8a33d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548640" y="160020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Struct para binario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548640" y="216720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4297680" y="160020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4297680" y="160020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Escribir (write)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4297680" y="216720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8046720" y="160020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8046720" y="160020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Leer (read)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8046720" y="216720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548640" y="236844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548640" y="236844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Archivos de texto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548640" y="293508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4297680" y="236844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4297680" y="236844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try / catch / throw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4297680" y="293508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8046720" y="236844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8046720" y="236844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Excepciones &lt;stdexcept&gt;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8046720" y="293508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548640" y="313632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548640" y="313632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Excepción propia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548640" y="370332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4297680" y="313632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4297680" y="313632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vector&lt;T&gt; STL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5"/>
          <p:cNvSpPr/>
          <p:nvPr/>
        </p:nvSpPr>
        <p:spPr>
          <a:xfrm>
            <a:off x="4297680" y="370332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6"/>
          <p:cNvSpPr/>
          <p:nvPr/>
        </p:nvSpPr>
        <p:spPr>
          <a:xfrm>
            <a:off x="8046720" y="313632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7"/>
          <p:cNvSpPr/>
          <p:nvPr/>
        </p:nvSpPr>
        <p:spPr>
          <a:xfrm>
            <a:off x="8046720" y="313632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map&lt;K,V&gt;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8046720" y="3703320"/>
            <a:ext cx="35186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1c9e8e"/>
                </a:solidFill>
                <a:latin typeface="Calibri"/>
                <a:ea typeface="Calibri"/>
              </a:rPr>
              <a:t>↓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548640" y="390456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30"/>
          <p:cNvSpPr/>
          <p:nvPr/>
        </p:nvSpPr>
        <p:spPr>
          <a:xfrm>
            <a:off x="548640" y="390456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Iteradores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1"/>
          <p:cNvSpPr/>
          <p:nvPr/>
        </p:nvSpPr>
        <p:spPr>
          <a:xfrm>
            <a:off x="4297680" y="390456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32"/>
          <p:cNvSpPr/>
          <p:nvPr/>
        </p:nvSpPr>
        <p:spPr>
          <a:xfrm>
            <a:off x="4297680" y="390456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Lambdas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8046720" y="3904560"/>
            <a:ext cx="3518640" cy="565200"/>
          </a:xfrm>
          <a:prstGeom prst="roundRect">
            <a:avLst>
              <a:gd name="adj" fmla="val 12903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8046720" y="3904560"/>
            <a:ext cx="3518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Calibri"/>
                <a:ea typeface="Calibri"/>
              </a:rPr>
              <a:t>sort / find_if / copy_if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35"/>
          <p:cNvSpPr/>
          <p:nvPr/>
        </p:nvSpPr>
        <p:spPr>
          <a:xfrm>
            <a:off x="548640" y="6172200"/>
            <a:ext cx="1106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250" spc="-1" strike="noStrike">
                <a:solidFill>
                  <a:srgbClr val="cadcfc"/>
                </a:solidFill>
                <a:latin typeface="Calibri"/>
                <a:ea typeface="Calibri"/>
              </a:rPr>
              <a:t>El Sistema de Gestión de Empleados mostró cómo persistir datos (archivos), protegerse de errores (excepciones) y procesarlos con eficiencia (STL): tres capas que se combinan en cualquier programa real.</a:t>
            </a:r>
            <a:endParaRPr b="0" lang="es-419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2026-09-29T23:46:12Z</dcterms:created>
  <dc:creator>Repaso POO C++</dc:creator>
  <dc:description/>
  <dc:language>es-419</dc:language>
  <cp:lastModifiedBy/>
  <dcterms:modified xsi:type="dcterms:W3CDTF">2026-10-05T17:09:04Z</dcterms:modified>
  <cp:revision>13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