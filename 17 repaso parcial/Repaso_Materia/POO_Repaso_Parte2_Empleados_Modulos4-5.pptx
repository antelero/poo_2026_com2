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D107A19-144E-4F6A-A557-FBDE6CEAD5B6}" type="slidenum"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5E309E-CB3D-4E2C-BEA5-9FDB2E986CC3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8F51BB-C905-4E7A-A3BA-84FF3B0BA4DE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Mencionar brevemente que herencia protected/private existe pero en el 99% de los casos de este curso se usa 'public'.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298799-CD47-4380-BB43-4C2388312963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Adelantar que un destructor no-virtual en una jerarquía polimórfica provoca fugas de memoria al hacer delete a través de un puntero base.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2CD57A-27A7-4C23-9234-617B8811C8F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se imprimiría la versión de Persona (enlace estático), no la de Empleado.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41CCEC-9485-452B-854F-315A9A61A8D8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Dar 2 minutos para que anticipen la salida antes de mostrarla; es un ejercicio típico de examen.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494FCF-FE16-4660-AA04-45EF2A7DEB9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Respuesta: identificar() imprime 'Indefinido' (virtual, enlace dinámico); tipo() imprime 'tipo-Contrato' (no virtual, enlace estático según el tipo del puntero Contrato*).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3ED2C2C-55B2-49CF-96B0-7795B4CE5F8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Buen momento para escribir el bucle 'for (Contrato* c : contratos) cout &lt;&lt; c-&gt;calcularIndemnizacion();' en el pizarrón.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075AB3-1B6E-4273-8DAE-67B4AEC2061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2F045D-3D46-4DDF-85CA-1FCE310F7E4A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Explicar que 'obj &lt;&lt; cout' no tiene sentido: el operando izquierdo de operator&lt;&lt; siempre es un ostream, no el objeto, por eso se necesita friend.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E0BCB4-16F7-4D36-AE72-CA3A18016337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Explicar que devolver ostream&amp; permite encadenar: cout &lt;&lt; f1 &lt;&lt; f2;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B590F3-F10D-4141-B756-696FE3BC538B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NOTAS PARA EL DOCENTE: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Dejar 3 minutos y luego resolver operator- en el pizarrón junto a la clase.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3B2CC6-9FC2-4ABD-A29C-42F7E8A46BD6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419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419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40080" y="640080"/>
            <a:ext cx="10907640" cy="5576760"/>
          </a:xfrm>
          <a:prstGeom prst="roundRect">
            <a:avLst>
              <a:gd name="adj" fmla="val 984"/>
            </a:avLst>
          </a:prstGeom>
          <a:solidFill>
            <a:srgbClr val="0d3e5f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05840" y="1280160"/>
            <a:ext cx="1014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194" strike="noStrike">
                <a:solidFill>
                  <a:srgbClr val="e8a33d"/>
                </a:solidFill>
                <a:latin typeface="Calibri"/>
                <a:ea typeface="Calibri"/>
              </a:rPr>
              <a:t>REPASO INTEGRADOR · PARTE 2 DE 3</a:t>
            </a:r>
            <a:endParaRPr b="0" lang="es-419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" y="1783080"/>
            <a:ext cx="101487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Programación Orientada a Objetos en C++</a:t>
            </a:r>
            <a:endParaRPr b="0" lang="es-419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Repaso Parcial 2 </a:t>
            </a:r>
            <a:endParaRPr b="0" lang="es-419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005840" y="3611880"/>
            <a:ext cx="101487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800" spc="-1" strike="noStrike">
                <a:solidFill>
                  <a:srgbClr val="dceaf2"/>
                </a:solidFill>
                <a:latin typeface="Calibri"/>
                <a:ea typeface="Calibri"/>
              </a:rPr>
              <a:t>Caso de estudio: Sistema de Gestión de Empleados — Módulos 4 a 7</a:t>
            </a: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005840" y="4617720"/>
            <a:ext cx="5851080" cy="1416240"/>
          </a:xfrm>
          <a:prstGeom prst="roundRect">
            <a:avLst>
              <a:gd name="adj" fmla="val 3871"/>
            </a:avLst>
          </a:prstGeom>
          <a:solidFill>
            <a:srgbClr val="0f2438"/>
          </a:solidFill>
          <a:ln w="6350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188720" y="4709160"/>
            <a:ext cx="54853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ObjetoDeEstudio {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Conocimiento conocimiento;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prepararParcial();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05840" y="6172200"/>
            <a:ext cx="10148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8faac0"/>
                </a:solidFill>
                <a:latin typeface="Calibri"/>
                <a:ea typeface="Calibri"/>
              </a:rPr>
              <a:t>Herencia y Polimorfismo · Sobrecarga de Operadores · Memoria Dinámica · Copia de Objetos</a:t>
            </a:r>
            <a:endParaRPr b="0" lang="es-419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4205160" cy="685692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214884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93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2423160"/>
            <a:ext cx="329076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4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48640" y="48463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35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572000" y="822960"/>
            <a:ext cx="70398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Herencia y Polimorfismo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4572000" y="2148840"/>
            <a:ext cx="6765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4709160" y="2606040"/>
            <a:ext cx="667404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Implementar herencia con virtual y override.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Diseñar clases abstractas con métodos virtuales puros.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Explicar el enlace dinámico y predecir qué método se ejecuta.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4 · Herencia y Polimorfismo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Herencia: sintaxis, virtual y override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class Gerente : public Persona {} hace que Gerente herede atributos y métodos públicos/protegidos de Persona.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virtual en la clase base habilita el enlace dinámico: la llamada se resuelve según el tipo real del objeto, no del puntero.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override (C++11) le indica al compilador que este método debe sobrescribir uno virtual de la base; detecta errores de firma.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Sin virtual, C++ usa enlace estático: se ejecuta la versión de la clase del puntero/referencia, no la del objeto real.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6080760" y="1535760"/>
            <a:ext cx="5622480" cy="36835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6217920" y="1261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persona.h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263640" y="1664280"/>
            <a:ext cx="525672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Persona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protected: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nombre;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Persona(string n) : nombre(n)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virtual void presentarse() const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"Soy " &lt;&lt; nombre &lt;&lt; endl;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Empleado : public Persona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Empleado(string n) : Persona(n)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presentarse() const override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"Empleado: " &lt;&lt; nombre &lt;&lt; endl;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457200" y="5370840"/>
            <a:ext cx="11246040" cy="4561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594360" y="5370840"/>
            <a:ext cx="10971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Olvidar 'virtual' en la clase base: el compilador no avisa, pero el polimorfismo deja de funcionar silenciosamente.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pasaría si Empleado hereda de Persona con 'protected' o 'private' en vez de 'public'?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4 · Herencia y Polimorfismo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Clases abstractas y métodos virtuales puros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 método virtual puro se declara con '= 0' y no tiene implementación en la clase base.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Una clase con al menos un método virtual puro es abstracta: no se pueden crear objetos de ella directamente.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Las clases derivadas deben implementar todos los métodos puros para poder instanciarse.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Sirve para definir un 'contrato' común sin imponer una implementación por defecto.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6080760" y="1319760"/>
            <a:ext cx="5622480" cy="461952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6217920" y="1045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contrato.h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6263640" y="1440000"/>
            <a:ext cx="5256720" cy="30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Contrato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virtual double calcularIndemnizacion()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const = 0;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virtual ~Contrato()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Contrato c;    // ERROR: es abstracta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ContratoIndefinido : public Contrato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calcularIndemnizacion() const override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50000; // simplificado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ContratoTemporal : public Contrato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double calcularIndemnizacion() const override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0; // sin indemnización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457200" y="4680000"/>
            <a:ext cx="5302080" cy="125496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9525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522000" y="4680000"/>
            <a:ext cx="5172480" cy="12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250" spc="-1" strike="noStrike">
                <a:solidFill>
                  <a:srgbClr val="d9534f"/>
                </a:solidFill>
                <a:latin typeface="Calibri"/>
                <a:ea typeface="Calibri"/>
              </a:rPr>
              <a:t>Error frecuente:  </a:t>
            </a:r>
            <a:r>
              <a:rPr b="0" lang="es-419" sz="1250" spc="-1" strike="noStrike">
                <a:solidFill>
                  <a:srgbClr val="1b2733"/>
                </a:solidFill>
                <a:latin typeface="Calibri"/>
                <a:ea typeface="Calibri"/>
              </a:rPr>
              <a:t>Intentar instanciar directamente una clase abstracta, o dejar sin implementar algún método puro en la clase derivada.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el destructor de Contrato también debería ser virtual? (pista: se retoma en Módulo 6-7 con memoria dinámica).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4 · Herencia y Polimorfismo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Polimorfismo y enlace dinámico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Polimorfismo: un mismo mensaje (llamada a método) produce comportamientos distintos según el tipo real del objeto.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Se logra usando punteros o referencias a la clase base que apuntan a objetos derivados.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Enlace dinámico (dynamic binding): la decisión de qué método ejecutar se toma en tiempo de ejecución, consultando la tabla virtual (vtable) del objeto.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Sin virtual, la decisión se toma en tiempo de compilación (enlace estático) según el tipo del puntero.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6080760" y="1554480"/>
            <a:ext cx="5622480" cy="3016440"/>
          </a:xfrm>
          <a:prstGeom prst="roundRect">
            <a:avLst>
              <a:gd name="adj" fmla="val 1515"/>
            </a:avLst>
          </a:prstGeom>
          <a:solidFill>
            <a:srgbClr val="0f2f33"/>
          </a:solidFill>
          <a:ln w="9525">
            <a:solidFill>
              <a:srgbClr val="1c9e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6217920" y="1261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9e8e"/>
                </a:solidFill>
                <a:latin typeface="Calibri"/>
                <a:ea typeface="Calibri"/>
              </a:rPr>
              <a:t>Enlace dinámico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263640" y="1664280"/>
            <a:ext cx="525672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Persona* p = new Empleado("Ana");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p-&gt;presentarse();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p (tipo Persona*)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|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v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[ objeto real: Empleado ]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[ vtable -&gt; Empleado::presentarse ]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Se ejecuta Empleado::presentarse()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  </a:t>
            </a:r>
            <a:r>
              <a:rPr b="0" lang="es-419" sz="1200" spc="-1" strike="noStrike">
                <a:solidFill>
                  <a:srgbClr val="cfefea"/>
                </a:solidFill>
                <a:latin typeface="Courier New"/>
                <a:ea typeface="Courier New"/>
              </a:rPr>
              <a:t>aunque 'p' sea de tipo Persona*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se imprime si Persona::presentarse NO es virtual y hacemos 'Persona* p = new Empleado("Ana"); p-&gt;presentarse();'?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4 · Herencia y Polimorfismo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Comparación: con virtual vs. sin virtual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457200" y="1417320"/>
            <a:ext cx="1124604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Ambos fragmentos compilan sin errores: la diferencia es sólo el resultado en tiempo de ejecución.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Con virtual, el sistema recorre la vtable del objeto real (Gerente).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Sin virtual, se resuelve según el tipo declarado del puntero (Persona) en tiempo de compilación.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Este es el error más frecuente en exámenes: parece funcionar 'a veces' por casualidad de diseño.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457200" y="3341880"/>
            <a:ext cx="5485320" cy="2057400"/>
          </a:xfrm>
          <a:prstGeom prst="roundRect">
            <a:avLst>
              <a:gd name="adj" fmla="val 3226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594360" y="3049200"/>
            <a:ext cx="5211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CON virtual → "Gerente"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40080" y="3451320"/>
            <a:ext cx="511956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Persona { public: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virtual string rol(){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"Persona";} };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Gerente:public Persona{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 string rol() ov.{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"Gerente";} };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Persona* p=new Gerente();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cout&lt;&lt;p-&gt;rol(); //Gerente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217920" y="3341880"/>
            <a:ext cx="5485320" cy="2057400"/>
          </a:xfrm>
          <a:prstGeom prst="roundRect">
            <a:avLst>
              <a:gd name="adj" fmla="val 3226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55080" y="3049200"/>
            <a:ext cx="5211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SIN virtual → "Persona"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400800" y="3451320"/>
            <a:ext cx="511956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Persona { public: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string rol(){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"Persona";} };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Gerente:public Persona{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 string rol(){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"Gerente";} };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Persona* p=new Gerente();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cout&lt;&lt;p-&gt;rol(); //Persona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En el Sistema de Gestión de Empleados, ¿qué método de Persona necesitaría ser virtual para que Empleado y Gerente se comporten polimórficamente?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4 · Herencia y Polimorfismo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Ejercicio: predecí qué método se ejecuta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Evaluar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Analizá el fragmento de la derecha línea por línea antes de responder.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Prestá atención a si el método está marcado virtual y a través de qué tipo de puntero se lo invoca.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Este patrón de pregunta ('¿qué imprime?', '¿qué método se ejecuta?') aparece con frecuencia en el parcial.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6080760" y="1554480"/>
            <a:ext cx="5622480" cy="438480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6217920" y="1261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¿Qué imprime este programa?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6263640" y="1664280"/>
            <a:ext cx="5256720" cy="27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Contrato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virtual void identificar()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"Contrato"; 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tipo() { cout &lt;&lt; "tipo-Contrato"; 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ContratoIndefinido : public Contrato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identificar() override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cout &lt;&lt; "Indefinido"; 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void tipo() { cout &lt;&lt; "tipo-Indef"; 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 main()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Contrato* c = new ContratoIndefinido();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c-&gt;identificar();   // ?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c-&gt;tipo();          // ?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imprime c-&gt;identificar() y qué imprime c-&gt;tipo()? Justificá la diferencia entre ambas llamadas.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CIERRE · MÓDULO 4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Herencia y Polimorfismo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Analizar / Evaluar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457200" y="1463040"/>
            <a:ext cx="5393880" cy="274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640080" y="1600200"/>
            <a:ext cx="5028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731520" y="1965960"/>
            <a:ext cx="4936680" cy="21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Herencia modela ES-UN; virtual + override habilitan el enlace dinámico.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Una clase con un método virtual puro (=0) es abstracta y no se puede instanciar.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Polimorfismo: el método ejecutado depende del tipo real del objeto, no del puntero, sólo si es virtual.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Sin virtual, se aplica enlace estático según el tipo declarado del puntero/referencia.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6035040" y="1463040"/>
            <a:ext cx="5668200" cy="274212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6217920" y="1600200"/>
            <a:ext cx="5302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6309360" y="1965960"/>
            <a:ext cx="5211000" cy="21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Olvidar 'virtual' en la clase base y perder el polimorfismo silenciosamente.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Dejar sin implementar un método puro en la derivada (sigue siendo abstracta).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Destructor de la clase base no-virtual en una jerarquía polimórfica.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Confundir override (marca la intención) con la palabra que realmente habilita el polimorfismo (virtual en la base).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457200" y="4434840"/>
            <a:ext cx="11246040" cy="187344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685800" y="457200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685800" y="4937760"/>
            <a:ext cx="107888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Agregá a la jerarquía Contrato una clase ContratoPasantia con calcularIndemnizacion() propio, creá un vector&lt;Contrato*&gt; con un ContratoIndefinido y un ContratoTemporal, y recorré llamando a calcularIndemnizacion() de forma polimórfica.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4205160" cy="6856920"/>
          </a:xfrm>
          <a:prstGeom prst="rect">
            <a:avLst/>
          </a:prstGeom>
          <a:solidFill>
            <a:srgbClr val="08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214884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293" strike="noStrike">
                <a:solidFill>
                  <a:srgbClr val="e8a33d"/>
                </a:solidFill>
                <a:latin typeface="Calibri"/>
                <a:ea typeface="Calibri"/>
              </a:rPr>
              <a:t>MÓDULO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457200" y="2423160"/>
            <a:ext cx="329076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5</a:t>
            </a:r>
            <a:endParaRPr b="0" lang="es-419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548640" y="48463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≈ </a:t>
            </a:r>
            <a:r>
              <a:rPr b="0" lang="es-419" sz="1300" spc="-1" strike="noStrike">
                <a:solidFill>
                  <a:srgbClr val="dceaf2"/>
                </a:solidFill>
                <a:latin typeface="Calibri"/>
                <a:ea typeface="Calibri"/>
              </a:rPr>
              <a:t>20 minutos</a:t>
            </a:r>
            <a:endParaRPr b="0" lang="es-419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4572000" y="822960"/>
            <a:ext cx="70398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2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Sobrecarga de Operadores</a:t>
            </a:r>
            <a:endParaRPr b="0" lang="es-419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4572000" y="2148840"/>
            <a:ext cx="6765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Objetivos de esta sección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709160" y="2606040"/>
            <a:ext cx="667404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Sobrecargar operadores aritméticos y de comparación.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Distinguir cuándo implementar un operador como método y cuándo como función friend.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5 · Sobrecarga de Operadores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Operadores sobrecargables: panorama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Comprender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6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La sobrecarga de operadores permite que objetos de una clase usen la sintaxis de operadores del lenguaje (+, ==, &lt;&lt;, etc.).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friend otorga a una función externa acceso a los miembros privados de la clase, sin ser un método de la clase.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Regla práctica: si el operando izquierdo es siempre un objeto de la clase, conviene un método; si no (como en cout &lt;&lt; obj), se necesita friend.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6080760" y="1261800"/>
            <a:ext cx="5622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1c6fa1"/>
                </a:solidFill>
                <a:latin typeface="Calibri"/>
                <a:ea typeface="Calibri"/>
              </a:rPr>
              <a:t>Operadores comunes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0" name="Table 0"/>
          <p:cNvGraphicFramePr/>
          <p:nvPr/>
        </p:nvGraphicFramePr>
        <p:xfrm>
          <a:off x="6080760" y="1554480"/>
          <a:ext cx="5623200" cy="30164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</a:tblGrid>
              <a:tr h="4309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Operador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Uso típico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Implementación habitual</a:t>
                      </a:r>
                      <a:endParaRPr b="0" lang="es-419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1c6fa1"/>
                    </a:solidFill>
                  </a:tcPr>
                </a:tc>
              </a:tr>
              <a:tr h="43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operator+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suma de dos objetos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método o friend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operator-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resta de dos objetos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método o friend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43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operator==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comparar igualdad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método (const)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operator=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asignación (Módulo 7)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método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  <a:tr h="43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operator&lt;&lt;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imprimir con cout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friend (obligatorio)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operator&gt;&gt;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leer con cin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2733"/>
                          </a:solidFill>
                          <a:latin typeface="Calibri"/>
                          <a:ea typeface="Calibri"/>
                        </a:rPr>
                        <a:t>friend (obligatorio)</a:t>
                      </a:r>
                      <a:endParaRPr b="0" lang="es-419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7e2e8"/>
                      </a:solidFill>
                      <a:prstDash val="solid"/>
                    </a:lnL>
                    <a:lnR w="9360">
                      <a:solidFill>
                        <a:srgbClr val="d7e2e8"/>
                      </a:solidFill>
                      <a:prstDash val="solid"/>
                    </a:lnR>
                    <a:lnT w="9360">
                      <a:solidFill>
                        <a:srgbClr val="d7e2e8"/>
                      </a:solidFill>
                      <a:prstDash val="solid"/>
                    </a:lnT>
                    <a:lnB w="9360">
                      <a:solidFill>
                        <a:srgbClr val="d7e2e8"/>
                      </a:solidFill>
                      <a:prstDash val="soli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21" name="Shape 8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¿Por qué operator&lt;&lt; no puede implementarse como método de la propia clase?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MÓDULO 5 · Sobrecarga de Operadores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Ejemplo completo: clase Fecha (evaluación de desempeño)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8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457200" y="1417320"/>
            <a:ext cx="5348160" cy="28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operator+ como método miembro: suma días a la fecha de ingreso para calcular la próxima evaluación (this siempre es una Fecha).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operator== como método const: compara si dos fechas son iguales, sin modificar ninguna.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733"/>
              </a:buClr>
              <a:buFont typeface="Wingdings 3" charset="2"/>
              <a:buChar char=""/>
            </a:pPr>
            <a:r>
              <a:rPr b="0" lang="es-419" sz="1500" spc="-1" strike="noStrike">
                <a:solidFill>
                  <a:srgbClr val="1b2733"/>
                </a:solidFill>
                <a:latin typeface="Calibri"/>
                <a:ea typeface="Calibri"/>
              </a:rPr>
              <a:t>operator&lt;&lt; como función friend: necesita acceso a los atributos privados pero el primer operando es ostream.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6080760" y="1224000"/>
            <a:ext cx="5622480" cy="4355640"/>
          </a:xfrm>
          <a:prstGeom prst="roundRect">
            <a:avLst>
              <a:gd name="adj" fmla="val 1515"/>
            </a:avLst>
          </a:prstGeom>
          <a:solidFill>
            <a:srgbClr val="0f2438"/>
          </a:solidFill>
          <a:ln w="9525">
            <a:solidFill>
              <a:srgbClr val="1c6f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6217920" y="9504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100" spc="-1" strike="noStrike">
                <a:solidFill>
                  <a:srgbClr val="e8a33d"/>
                </a:solidFill>
                <a:latin typeface="Calibri"/>
                <a:ea typeface="Calibri"/>
              </a:rPr>
              <a:t>fecha.h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6263640" y="1342800"/>
            <a:ext cx="5256720" cy="30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class Fecha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private: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int dia, mes, anio;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public: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Fecha(int d=1,int m=1,int a=2026)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: dia(d), mes(m), anio(a) {}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Fecha operator+(int dias) const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Fecha(dia+dias, mes, anio);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bool operator==(const Fecha&amp; o) const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dia==o.dia &amp;&amp; mes==o.mes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&amp;&amp; anio==o.anio;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friend ostream&amp; operator&lt;&lt;(ostream&amp; os,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                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const Fecha&amp; f) {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os&lt;&lt;f.dia&lt;&lt;"/"&lt;&lt;f.mes&lt;&lt;"/"&lt;&lt;f.anio;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return os;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    </a:t>
            </a: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};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dceaf2"/>
                </a:solidFill>
                <a:latin typeface="Courier New"/>
                <a:ea typeface="Courier New"/>
              </a:rPr>
              <a:t>// Fecha proximaEvaluacion = fechaIngreso + 180;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457200" y="6080760"/>
            <a:ext cx="11246040" cy="54756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640080" y="60807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s-419" sz="1350" spc="-1" strike="noStrike">
                <a:solidFill>
                  <a:srgbClr val="e8a33d"/>
                </a:solidFill>
                <a:latin typeface="Calibri"/>
                <a:ea typeface="Calibri"/>
              </a:rPr>
              <a:t>❓  </a:t>
            </a:r>
            <a:r>
              <a:rPr b="0" i="1" lang="es-419" sz="1350" spc="-1" strike="noStrike">
                <a:solidFill>
                  <a:srgbClr val="ffffff"/>
                </a:solidFill>
                <a:latin typeface="Calibri"/>
                <a:ea typeface="Calibri"/>
              </a:rPr>
              <a:t>¿Qué debería devolver operator&lt;&lt; y por qué es importante que devuelva ostream&amp;?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255960"/>
            <a:ext cx="8685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92" strike="noStrike">
                <a:solidFill>
                  <a:srgbClr val="1c6fa1"/>
                </a:solidFill>
                <a:latin typeface="Calibri"/>
                <a:ea typeface="Calibri"/>
              </a:rPr>
              <a:t>CIERRE · MÓDULO 5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57200" y="502920"/>
            <a:ext cx="88686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1b2733"/>
                </a:solidFill>
                <a:latin typeface="Century Schoolbook"/>
                <a:ea typeface="Century Schoolbook"/>
              </a:rPr>
              <a:t>Resumen — Sobrecarga de Operadores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9464040" y="3200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9464040" y="3200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Bloom: Aplicar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9464040" y="658440"/>
            <a:ext cx="2239200" cy="291600"/>
          </a:xfrm>
          <a:prstGeom prst="roundRect">
            <a:avLst>
              <a:gd name="adj" fmla="val 25000"/>
            </a:avLst>
          </a:prstGeom>
          <a:solidFill>
            <a:srgbClr val="1c9e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9464040" y="658440"/>
            <a:ext cx="2239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⏱ </a:t>
            </a:r>
            <a:r>
              <a:rPr b="1" lang="es-419" sz="1050" spc="-1" strike="noStrike">
                <a:solidFill>
                  <a:srgbClr val="ffffff"/>
                </a:solidFill>
                <a:latin typeface="Calibri"/>
                <a:ea typeface="Calibri"/>
              </a:rPr>
              <a:t>5 min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457200" y="1463040"/>
            <a:ext cx="5393880" cy="274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640080" y="1600200"/>
            <a:ext cx="5028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✔ </a:t>
            </a:r>
            <a:r>
              <a:rPr b="1" lang="es-419" sz="1400" spc="-1" strike="noStrike">
                <a:solidFill>
                  <a:srgbClr val="3fb98a"/>
                </a:solidFill>
                <a:latin typeface="Calibri"/>
                <a:ea typeface="Calibri"/>
              </a:rPr>
              <a:t>Ideas clave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731520" y="1965960"/>
            <a:ext cx="4936680" cy="21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Sobrecargar operadores da sintaxis natural a operaciones entre objetos.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Método miembro cuando el operando izquierdo siempre es del tipo de la clase.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friend cuando se necesita acceso privado pero el operando izquierdo no es la clase (operator&lt;&lt;, operator&gt;&gt;).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6035040" y="1463040"/>
            <a:ext cx="5668200" cy="2742120"/>
          </a:xfrm>
          <a:prstGeom prst="roundRect">
            <a:avLst>
              <a:gd name="adj" fmla="val 2000"/>
            </a:avLst>
          </a:prstGeom>
          <a:solidFill>
            <a:srgbClr val="fff7f0"/>
          </a:solidFill>
          <a:ln w="12700">
            <a:solidFill>
              <a:srgbClr val="d953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6217920" y="1600200"/>
            <a:ext cx="5302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⚠ </a:t>
            </a:r>
            <a:r>
              <a:rPr b="1" lang="es-419" sz="1400" spc="-1" strike="noStrike">
                <a:solidFill>
                  <a:srgbClr val="d9534f"/>
                </a:solidFill>
                <a:latin typeface="Calibri"/>
                <a:ea typeface="Calibri"/>
              </a:rPr>
              <a:t>Errores frecuentes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6309360" y="1965960"/>
            <a:ext cx="5211000" cy="21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Implementar operator&lt;&lt; como método miembro (no compila con la sintaxis cout &lt;&lt; obj).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Olvidar 'const' en operadores que no modifican el objeto.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1b2733"/>
              </a:buClr>
              <a:buFont typeface="Symbol" charset="2"/>
              <a:buChar char=""/>
            </a:pPr>
            <a:r>
              <a:rPr b="0" lang="es-419" sz="1300" spc="-1" strike="noStrike">
                <a:solidFill>
                  <a:srgbClr val="1b2733"/>
                </a:solidFill>
                <a:latin typeface="Calibri"/>
                <a:ea typeface="Calibri"/>
              </a:rPr>
              <a:t>No devolver la referencia adecuada, rompiendo el encadenamiento de operadores.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457200" y="4434840"/>
            <a:ext cx="11246040" cy="1873440"/>
          </a:xfrm>
          <a:prstGeom prst="roundRect">
            <a:avLst>
              <a:gd name="adj" fmla="val 2927"/>
            </a:avLst>
          </a:prstGeom>
          <a:solidFill>
            <a:srgbClr val="0b3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685800" y="4572000"/>
            <a:ext cx="4570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✏ </a:t>
            </a:r>
            <a:r>
              <a:rPr b="1" lang="es-419" sz="1400" spc="-1" strike="noStrike">
                <a:solidFill>
                  <a:srgbClr val="e8a33d"/>
                </a:solidFill>
                <a:latin typeface="Calibri"/>
                <a:ea typeface="Calibri"/>
              </a:rPr>
              <a:t>Ejercicio rápido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685800" y="4937760"/>
            <a:ext cx="1078884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1450" spc="-1" strike="noStrike">
                <a:solidFill>
                  <a:srgbClr val="ffffff"/>
                </a:solidFill>
                <a:latin typeface="Calibri"/>
                <a:ea typeface="Calibri"/>
              </a:rPr>
              <a:t>Agregá a la clase Fecha un operator- (que calcule la diferencia en días entre dos fechas, versión simplificada) y un operator&gt;&gt; como función friend para leer día, mes y año desde cin.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2026-09-30T11:52:35Z</dcterms:created>
  <dc:creator>Repaso POO C++</dc:creator>
  <dc:description/>
  <dc:language>es-419</dc:language>
  <cp:lastModifiedBy/>
  <dcterms:modified xsi:type="dcterms:W3CDTF">2026-10-05T16:36:27Z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23</vt:i4>
  </property>
  <property fmtid="{D5CDD505-2E9C-101B-9397-08002B2CF9AE}" pid="3" name="PresentationFormat">
    <vt:lpwstr>On-screen Show (16:9)</vt:lpwstr>
  </property>
  <property fmtid="{D5CDD505-2E9C-101B-9397-08002B2CF9AE}" pid="4" name="Slides">
    <vt:i4>23</vt:i4>
  </property>
</Properties>
</file>